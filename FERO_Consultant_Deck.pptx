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Merchants</c:v>
                </c:pt>
              </c:strCache>
            </c:strRef>
          </c:tx>
          <c:spPr>
            <a:solidFill>
              <a:srgbClr val="3730A3">
                <a:alpha val="100000"/>
              </a:srgbClr>
            </a:solidFill>
            <a:effectLst/>
          </c:spPr>
          <c:invertIfNegative val="0"/>
          <c:dLbls>
            <c:numFmt formatCode="0&quot;%&quot;" sourceLinked="0"/>
            <c:txPr>
              <a:bodyPr/>
              <a:lstStyle/>
              <a:p>
                <a:pPr>
                  <a:defRPr b="0" i="0" strike="noStrike" sz="1100" u="none">
                    <a:solidFill>
                      <a:srgbClr val="0A0A0A"/>
                    </a:solidFill>
                    <a:latin typeface="Consolas"/>
                  </a:defRPr>
                </a:pPr>
              </a:p>
            </c:txPr>
            <c:showLegendKey val="0"/>
            <c:showVal val="1"/>
            <c:showCatName val="0"/>
            <c:showSerName val="0"/>
            <c:showPercent val="0"/>
            <c:showBubbleSize val="0"/>
            <c:showLeaderLines val="0"/>
          </c:dLbls>
          <c:dPt>
            <c:idx val="0"/>
            <c:invertIfNegative val="0"/>
            <c:bubble3D val="0"/>
            <c:spPr>
              <a:solidFill>
                <a:srgbClr val="3730A3"/>
              </a:solidFill>
              <a:effectLst/>
            </c:spPr>
          </c:dPt>
          <c:dPt>
            <c:idx val="1"/>
            <c:invertIfNegative val="0"/>
            <c:bubble3D val="0"/>
            <c:spPr>
              <a:solidFill>
                <a:srgbClr val="4F46E5"/>
              </a:solidFill>
              <a:effectLst/>
            </c:spPr>
          </c:dPt>
          <c:dPt>
            <c:idx val="2"/>
            <c:invertIfNegative val="0"/>
            <c:bubble3D val="0"/>
            <c:spPr>
              <a:solidFill>
                <a:srgbClr val="D97706"/>
              </a:solidFill>
              <a:effectLst/>
            </c:spPr>
          </c:dPt>
          <c:dPt>
            <c:idx val="3"/>
            <c:invertIfNegative val="0"/>
            <c:bubble3D val="0"/>
            <c:spPr>
              <a:solidFill>
                <a:srgbClr val="DC2626"/>
              </a:solidFill>
              <a:effectLst/>
            </c:spPr>
          </c:dPt>
          <c:dPt>
            <c:idx val="4"/>
            <c:invertIfNegative val="0"/>
            <c:bubble3D val="0"/>
            <c:spPr>
              <a:solidFill>
                <a:srgbClr val="DC2626"/>
              </a:solidFill>
              <a:effectLst/>
            </c:spPr>
          </c:dPt>
          <c:cat>
            <c:multiLvlStrRef>
              <c:f>Sheet1!$A$2:$A$6</c:f>
              <c:multiLvlStrCache>
                <c:ptCount val="5"/>
                <c:lvl>
                  <c:pt idx="0">
                    <c:v>Install</c:v>
                  </c:pt>
                  <c:pt idx="1">
                    <c:v>Connect</c:v>
                  </c:pt>
                  <c:pt idx="2">
                    <c:v>Verify</c:v>
                  </c:pt>
                  <c:pt idx="3">
                    <c:v>Test sale</c:v>
                  </c:pt>
                  <c:pt idx="4">
                    <c:v>Go live</c:v>
                  </c:pt>
                </c:lvl>
              </c:multiLvlStrCache>
            </c:multiLvlStrRef>
          </c:cat>
          <c:val>
            <c:numRef>
              <c:f>Sheet1!$B$2:$B$6</c:f>
              <c:numCache>
                <c:formatCode>General</c:formatCode>
                <c:ptCount val="5"/>
                <c:pt idx="0">
                  <c:v>100</c:v>
                </c:pt>
                <c:pt idx="1">
                  <c:v>84</c:v>
                </c:pt>
                <c:pt idx="2">
                  <c:v>52</c:v>
                </c:pt>
                <c:pt idx="3">
                  <c:v>41</c:v>
                </c:pt>
                <c:pt idx="4">
                  <c:v>27</c:v>
                </c:pt>
              </c:numCache>
            </c:numRef>
          </c:val>
        </c:ser>
        <c:dLbls>
          <c:numFmt formatCode="0&quot;%&quot;" sourceLinked="0"/>
          <c:txPr>
            <a:bodyPr/>
            <a:lstStyle/>
            <a:p>
              <a:pPr>
                <a:defRPr b="0" i="0" strike="noStrike" sz="1100" u="none">
                  <a:solidFill>
                    <a:srgbClr val="0A0A0A"/>
                  </a:solidFill>
                  <a:latin typeface="Consolas"/>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F3F4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GrpSpPr/>
      </p:nvGrpSpPr>
      <p:grpSpPr>
        <a:xfrm>
          <a:off x="0" y="0"/>
          <a:ext cx="0" cy="0"/>
          <a:chOff x="0" y="0"/>
          <a:chExt cx="0" cy="0"/>
        </a:xfrm>
      </p:grpSpPr>
      <p:sp>
        <p:nvSpPr>
          <p:cNvPr id="2" name="Notes Placeholder 1"/>
          <p:cNvSpPr>
            <a:spLocks noGrp="1"/>
          </p:cNvSpPr>
          <p:nvSpPr>
            <p:ph type="body" idx="1"/>
          </p:nvSpPr>
        </p:nvSpPr>
        <p:spPr>
          <a:xfrm>
            <a:off x="685800" y="1943100"/>
            <a:ext cx="5486400" cy="5715000"/>
          </a:xfrm>
        </p:spPr>
        <p:txBody>
          <a:bodyPr vert="horz" lIns="91440" tIns="45720" rIns="91440" bIns="45720" rtlCol="0"/>
          <a:lstStyle/>
          <a:p>
            <a:endParaRPr lang="en-US"/>
          </a:p>
        </p:txBody>
      </p:sp>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GrpSpPr/>
      </p:nvGrpSpPr>
      <p:grpSpPr>
        <a:xfrm>
          <a:off x="0" y="0"/>
          <a:ext cx="0" cy="0"/>
          <a:chOff x="0" y="0"/>
          <a:chExt cx="0" cy="0"/>
        </a:xfrm>
      </p:grpSpPr>
      <p:sp>
        <p:nvSpPr>
          <p:cNvPr id="2" name="Notes Placeholder"/>
          <p:cNvSpPr>
            <a:spLocks noGrp="1"/>
          </p:cNvSpPr>
          <p:nvSpPr>
            <p:ph type="body" idx="1"/>
          </p:nvSpPr>
        </p:nvSpPr>
        <p:spPr/>
        <p:txBody>
          <a:bodyPr/>
          <a:lstStyle/>
          <a:p>
            <a:r>
              <a:rPr lang="en-US" dirty="0"/>
              <a:t>Good morning, and thank you for the time. Before the detail — one framing thought. The three problems in the brief arrived as three separate fires, but they're the same fire wearing three outfits. In every case the team reacts after the fire starts, with nothing to catch the next one. My answer is the same each time: put out today's fire with evidence, then build the guardrail that stops it starting again. That shift is the whole memo. Let me show you.</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GrpSpPr/>
      </p:nvGrpSpPr>
      <p:grpSpPr>
        <a:xfrm>
          <a:off x="0" y="0"/>
          <a:ext cx="0" cy="0"/>
          <a:chOff x="0" y="0"/>
          <a:chExt cx="0" cy="0"/>
        </a:xfrm>
      </p:grpSpPr>
      <p:sp>
        <p:nvSpPr>
          <p:cNvPr id="2" name="Notes Placeholder"/>
          <p:cNvSpPr>
            <a:spLocks noGrp="1"/>
          </p:cNvSpPr>
          <p:nvSpPr>
            <p:ph type="body" idx="1"/>
          </p:nvSpPr>
        </p:nvSpPr>
        <p:spPr/>
        <p:txBody>
          <a:bodyPr/>
          <a:lstStyle/>
          <a:p>
            <a:r>
              <a:rPr lang="en-US" dirty="0"/>
              <a:t>Every problem at a payments company shows up the same way — something breaks and the team scrambles. The trouble is the scramble is different every time and lives in one person's head, so the same fires keep coming back. My fix: run every problem through the same two moves. This week, put out the fire with a real diagnosis. Next sprint, build the guardrail. The payoff is the team stops re-fighting old fires, and FERO becomes a company merchants can rely on. One habit throughout: measure what merchants feel, not how busy the team looks.</a:t>
            </a: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GrpSpPr/>
      </p:nvGrpSpPr>
      <p:grpSpPr>
        <a:xfrm>
          <a:off x="0" y="0"/>
          <a:ext cx="0" cy="0"/>
          <a:chOff x="0" y="0"/>
          <a:chExt cx="0" cy="0"/>
        </a:xfrm>
      </p:grpSpPr>
      <p:sp>
        <p:nvSpPr>
          <p:cNvPr id="2" name="Notes Placeholder"/>
          <p:cNvSpPr>
            <a:spLocks noGrp="1"/>
          </p:cNvSpPr>
          <p:nvSpPr>
            <p:ph type="body" idx="1"/>
          </p:nvSpPr>
        </p:nvSpPr>
        <p:spPr/>
        <p:txBody>
          <a:bodyPr/>
          <a:lstStyle/>
          <a:p>
            <a:r>
              <a:rPr lang="en-US" dirty="0"/>
              <a:t>Bigger merchants left once their totals stopped matching their books. The tempting move — redesign the screen — is wrong, because a nicer screen just shows wrong numbers more clearly. So week one goes in order: check the math first, watch behaviour, then talk to merchants. Why a week and not a day? A day gives a hunch, not a proof. Then the guardrail: every fee change is tested quietly on real traffic and only ships if it passes four checks. And before rebuilding, the cheap test — hand-send 20 merchants a spreadsheet for two weeks. If complaints stop, it was the screen. If not, it was the numbers.</a:t>
            </a: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GrpSpPr/>
      </p:nvGrpSpPr>
      <p:grpSpPr>
        <a:xfrm>
          <a:off x="0" y="0"/>
          <a:ext cx="0" cy="0"/>
          <a:chOff x="0" y="0"/>
          <a:chExt cx="0" cy="0"/>
        </a:xfrm>
      </p:grpSpPr>
      <p:sp>
        <p:nvSpPr>
          <p:cNvPr id="2" name="Notes Placeholder"/>
          <p:cNvSpPr>
            <a:spLocks noGrp="1"/>
          </p:cNvSpPr>
          <p:nvSpPr>
            <p:ph type="body" idx="1"/>
          </p:nvSpPr>
        </p:nvSpPr>
        <p:spPr/>
        <p:txBody>
          <a:bodyPr/>
          <a:lstStyle/>
          <a:p>
            <a:r>
              <a:rPr lang="en-US" dirty="0"/>
              <a:t>The plugin ships with bugs new merchants hit during setup, and every quick fix spawns two more. So don't guess — let the data point. The funnel shows only 27% reach go-live, and the biggest cliff is the connection step — technical, not design. The code ranking shows two files cause 57% of errors. The guardrail is a health score that refreshes nightly, so every Monday the riskiest files are already sorted. And the number we track isn't bugs fixed — it's time to a merchant's first sale, from 18 hours to under four.</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GrpSpPr/>
      </p:nvGrpSpPr>
      <p:grpSpPr>
        <a:xfrm>
          <a:off x="0" y="0"/>
          <a:ext cx="0" cy="0"/>
          <a:chOff x="0" y="0"/>
          <a:chExt cx="0" cy="0"/>
        </a:xfrm>
      </p:grpSpPr>
      <p:sp>
        <p:nvSpPr>
          <p:cNvPr id="2" name="Notes Placeholder"/>
          <p:cNvSpPr>
            <a:spLocks noGrp="1"/>
          </p:cNvSpPr>
          <p:nvSpPr>
            <p:ph type="body" idx="1"/>
          </p:nvSpPr>
        </p:nvSpPr>
        <p:spPr/>
        <p:txBody>
          <a:bodyPr/>
          <a:lstStyle/>
          <a:p>
            <a:r>
              <a:rPr lang="en-US" dirty="0"/>
              <a:t>This is the most political of the three. A rep bursts in mid-sprint — a merchant's about to leave. Whatever you decide sets the tone. So every urgent request runs the same 15-minute check: is the risk real, how big is the fix, then decide and tell the rep in writing. The guardrail: hold 15% of every sprint for urgent work, and sort every request into one of four lanes with a clear deadline. The lane decides, not who shouted loudest. The number that proves it: did the sprint still finish, and how long did urgent work wait.</a:t>
            </a: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GrpSpPr/>
      </p:nvGrpSpPr>
      <p:grpSpPr>
        <a:xfrm>
          <a:off x="0" y="0"/>
          <a:ext cx="0" cy="0"/>
          <a:chOff x="0" y="0"/>
          <a:chExt cx="0" cy="0"/>
        </a:xfrm>
      </p:grpSpPr>
      <p:sp>
        <p:nvSpPr>
          <p:cNvPr id="2" name="Notes Placeholder"/>
          <p:cNvSpPr>
            <a:spLocks noGrp="1"/>
          </p:cNvSpPr>
          <p:nvSpPr>
            <p:ph type="body" idx="1"/>
          </p:nvSpPr>
        </p:nvSpPr>
        <p:spPr/>
        <p:txBody>
          <a:bodyPr/>
          <a:lstStyle/>
          <a:p>
            <a:r>
              <a:rPr lang="en-US" dirty="0"/>
              <a:t>Everything I've walked through is built into a dashboard you can open and click through — one file, no install, works offline. Three tabs, one per problem, filters recalculate live. If presenting live, open it and click one filter so they see the numbers move. I built it for two reasons: whoever does this job should show the tools they'd run, not just describe them; and the fastest way to make a way of working real is to hand people something they can see themselves in. So that's the plan — fix today's fire, build tomorrow's guardrail, measure what merchants feel. Thank you.</a:t>
            </a: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548640" y="548640"/>
            <a:ext cx="475488" cy="475488"/>
          </a:xfrm>
          <a:prstGeom prst="rect">
            <a:avLst>
              <a:gd name="adj" fmla="val 11538"/>
            </a:avLst>
          </a:prstGeom>
          <a:solidFill>
            <a:srgbClr val="4F46E5"/>
          </a:solidFill>
          <a:ln w="12700">
            <a:solidFill>
              <a:srgbClr val="4F46E5"/>
            </a:solidFill>
            <a:prstDash val="solid"/>
          </a:ln>
        </p:spPr>
      </p:sp>
      <p:sp>
        <p:nvSpPr>
          <p:cNvPr id="3" name="Shape 1"/>
          <p:cNvSpPr/>
          <p:nvPr/>
        </p:nvSpPr>
        <p:spPr>
          <a:xfrm>
            <a:off x="681777" y="681777"/>
            <a:ext cx="209215" cy="63398"/>
          </a:xfrm>
          <a:prstGeom prst="rect">
            <a:avLst/>
          </a:prstGeom>
          <a:solidFill>
            <a:srgbClr val="FFFFFF"/>
          </a:solidFill>
          <a:ln w="12700">
            <a:solidFill>
              <a:srgbClr val="FFFFFF"/>
            </a:solidFill>
            <a:prstDash val="solid"/>
          </a:ln>
        </p:spPr>
      </p:sp>
      <p:sp>
        <p:nvSpPr>
          <p:cNvPr id="4" name="Shape 2"/>
          <p:cNvSpPr/>
          <p:nvPr/>
        </p:nvSpPr>
        <p:spPr>
          <a:xfrm>
            <a:off x="681777" y="681777"/>
            <a:ext cx="53889" cy="209215"/>
          </a:xfrm>
          <a:prstGeom prst="rect">
            <a:avLst/>
          </a:prstGeom>
          <a:solidFill>
            <a:srgbClr val="FFFFFF"/>
          </a:solidFill>
          <a:ln w="12700">
            <a:solidFill>
              <a:srgbClr val="FFFFFF"/>
            </a:solidFill>
            <a:prstDash val="solid"/>
          </a:ln>
        </p:spPr>
      </p:sp>
      <p:sp>
        <p:nvSpPr>
          <p:cNvPr id="5" name="Shape 3"/>
          <p:cNvSpPr/>
          <p:nvPr/>
        </p:nvSpPr>
        <p:spPr>
          <a:xfrm>
            <a:off x="681777" y="769647"/>
            <a:ext cx="146450" cy="63398"/>
          </a:xfrm>
          <a:prstGeom prst="rect">
            <a:avLst/>
          </a:prstGeom>
          <a:solidFill>
            <a:srgbClr val="FFFFFF"/>
          </a:solidFill>
          <a:ln w="12700">
            <a:solidFill>
              <a:srgbClr val="FFFFFF"/>
            </a:solidFill>
            <a:prstDash val="solid"/>
          </a:ln>
        </p:spPr>
      </p:sp>
      <p:sp>
        <p:nvSpPr>
          <p:cNvPr id="6" name="Text 4"/>
          <p:cNvSpPr/>
          <p:nvPr/>
        </p:nvSpPr>
        <p:spPr>
          <a:xfrm>
            <a:off x="1207008" y="548640"/>
            <a:ext cx="7315200" cy="475488"/>
          </a:xfrm>
          <a:prstGeom prst="rect">
            <a:avLst/>
          </a:prstGeom>
          <a:noFill/>
          <a:ln/>
        </p:spPr>
        <p:txBody>
          <a:bodyPr wrap="square" lIns="0" tIns="0" rIns="0" bIns="0" rtlCol="0" anchor="ctr"/>
          <a:lstStyle/>
          <a:p>
            <a:pPr indent="0" marL="0">
              <a:buNone/>
            </a:pPr>
            <a:r>
              <a:rPr lang="en-US" sz="1900" b="1" dirty="0">
                <a:solidFill>
                  <a:srgbClr val="6366F1"/>
                </a:solidFill>
                <a:latin typeface="Calibri" pitchFamily="34" charset="0"/>
                <a:ea typeface="Calibri" pitchFamily="34" charset="-122"/>
                <a:cs typeface="Calibri" pitchFamily="34" charset="-120"/>
              </a:rPr>
              <a:t>FERO</a:t>
            </a:r>
            <a:pPr indent="0" marL="0">
              <a:buNone/>
            </a:pPr>
            <a:r>
              <a:rPr lang="en-US" sz="1700" dirty="0">
                <a:solidFill>
                  <a:srgbClr val="FFFFFF"/>
                </a:solidFill>
                <a:latin typeface="Calibri" pitchFamily="34" charset="0"/>
                <a:ea typeface="Calibri" pitchFamily="34" charset="-122"/>
                <a:cs typeface="Calibri" pitchFamily="34" charset="-120"/>
              </a:rPr>
              <a:t>   Payment Science</a:t>
            </a:r>
            <a:endParaRPr lang="en-US" sz="1900" dirty="0"/>
          </a:p>
        </p:txBody>
      </p:sp>
      <p:sp>
        <p:nvSpPr>
          <p:cNvPr id="7" name="Text 5"/>
          <p:cNvSpPr/>
          <p:nvPr/>
        </p:nvSpPr>
        <p:spPr>
          <a:xfrm>
            <a:off x="548640" y="2057400"/>
            <a:ext cx="9144000" cy="411480"/>
          </a:xfrm>
          <a:prstGeom prst="rect">
            <a:avLst/>
          </a:prstGeom>
          <a:noFill/>
          <a:ln/>
        </p:spPr>
        <p:txBody>
          <a:bodyPr wrap="square" lIns="0" tIns="0" rIns="0" bIns="0" rtlCol="0" anchor="ctr"/>
          <a:lstStyle/>
          <a:p>
            <a:pPr indent="0" marL="0">
              <a:buNone/>
            </a:pPr>
            <a:r>
              <a:rPr lang="en-US" sz="1400" b="1" dirty="0">
                <a:solidFill>
                  <a:srgbClr val="6366F1"/>
                </a:solidFill>
                <a:latin typeface="Calibri" pitchFamily="34" charset="0"/>
                <a:ea typeface="Calibri" pitchFamily="34" charset="-122"/>
                <a:cs typeface="Calibri" pitchFamily="34" charset="-120"/>
              </a:rPr>
              <a:t>CASE MEMO  ·  AUGUST 2026</a:t>
            </a:r>
            <a:endParaRPr lang="en-US" sz="1400" dirty="0"/>
          </a:p>
        </p:txBody>
      </p:sp>
      <p:sp>
        <p:nvSpPr>
          <p:cNvPr id="8" name="Text 6"/>
          <p:cNvSpPr/>
          <p:nvPr/>
        </p:nvSpPr>
        <p:spPr>
          <a:xfrm>
            <a:off x="548640" y="2606040"/>
            <a:ext cx="11094415" cy="91440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Stop fighting the same fires.</a:t>
            </a:r>
            <a:endParaRPr lang="en-US" sz="5000" dirty="0"/>
          </a:p>
        </p:txBody>
      </p:sp>
      <p:sp>
        <p:nvSpPr>
          <p:cNvPr id="9" name="Text 7"/>
          <p:cNvSpPr/>
          <p:nvPr/>
        </p:nvSpPr>
        <p:spPr>
          <a:xfrm>
            <a:off x="548640" y="3474720"/>
            <a:ext cx="11094415" cy="914400"/>
          </a:xfrm>
          <a:prstGeom prst="rect">
            <a:avLst/>
          </a:prstGeom>
          <a:noFill/>
          <a:ln/>
        </p:spPr>
        <p:txBody>
          <a:bodyPr wrap="square" lIns="0" tIns="0" rIns="0" bIns="0" rtlCol="0" anchor="ctr"/>
          <a:lstStyle/>
          <a:p>
            <a:pPr indent="0" marL="0">
              <a:buNone/>
            </a:pPr>
            <a:r>
              <a:rPr lang="en-US" sz="5000" b="1" dirty="0">
                <a:solidFill>
                  <a:srgbClr val="6366F1"/>
                </a:solidFill>
                <a:latin typeface="Calibri" pitchFamily="34" charset="0"/>
                <a:ea typeface="Calibri" pitchFamily="34" charset="-122"/>
                <a:cs typeface="Calibri" pitchFamily="34" charset="-120"/>
              </a:rPr>
              <a:t>Build a product that fixes itself.</a:t>
            </a:r>
            <a:endParaRPr lang="en-US" sz="5000" dirty="0"/>
          </a:p>
        </p:txBody>
      </p:sp>
      <p:sp>
        <p:nvSpPr>
          <p:cNvPr id="10" name="Text 8"/>
          <p:cNvSpPr/>
          <p:nvPr/>
        </p:nvSpPr>
        <p:spPr>
          <a:xfrm>
            <a:off x="548640" y="4617720"/>
            <a:ext cx="9144000" cy="457200"/>
          </a:xfrm>
          <a:prstGeom prst="rect">
            <a:avLst/>
          </a:prstGeom>
          <a:noFill/>
          <a:ln/>
        </p:spPr>
        <p:txBody>
          <a:bodyPr wrap="square" lIns="0" tIns="0" rIns="0" bIns="0" rtlCol="0" anchor="ctr"/>
          <a:lstStyle/>
          <a:p>
            <a:pPr indent="0" marL="0">
              <a:buNone/>
            </a:pPr>
            <a:r>
              <a:rPr lang="en-US" sz="1900" dirty="0">
                <a:solidFill>
                  <a:srgbClr val="A6ADBB"/>
                </a:solidFill>
                <a:latin typeface="Calibri" pitchFamily="34" charset="0"/>
                <a:ea typeface="Calibri" pitchFamily="34" charset="-122"/>
                <a:cs typeface="Calibri" pitchFamily="34" charset="-120"/>
              </a:rPr>
              <a:t>Three merchant problems. One root cause. One way out.</a:t>
            </a:r>
            <a:endParaRPr lang="en-US" sz="1900" dirty="0"/>
          </a:p>
        </p:txBody>
      </p:sp>
      <p:sp>
        <p:nvSpPr>
          <p:cNvPr id="11" name="Shape 9"/>
          <p:cNvSpPr/>
          <p:nvPr/>
        </p:nvSpPr>
        <p:spPr>
          <a:xfrm>
            <a:off x="548640" y="5943600"/>
            <a:ext cx="1371600" cy="0"/>
          </a:xfrm>
          <a:prstGeom prst="line">
            <a:avLst/>
          </a:prstGeom>
          <a:noFill/>
          <a:ln w="19050">
            <a:solidFill>
              <a:srgbClr val="6366F1"/>
            </a:solidFill>
            <a:prstDash val="solid"/>
          </a:ln>
        </p:spPr>
      </p:sp>
      <p:sp>
        <p:nvSpPr>
          <p:cNvPr id="12" name="Text 10"/>
          <p:cNvSpPr/>
          <p:nvPr/>
        </p:nvSpPr>
        <p:spPr>
          <a:xfrm>
            <a:off x="548640" y="6080760"/>
            <a:ext cx="11094415"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Moses Bargue Kortu Jr.</a:t>
            </a:r>
            <a:pPr indent="0" marL="0">
              <a:buNone/>
            </a:pPr>
            <a:r>
              <a:rPr lang="en-US" sz="1200" dirty="0">
                <a:solidFill>
                  <a:srgbClr val="9CA3AF"/>
                </a:solidFill>
                <a:latin typeface="Calibri" pitchFamily="34" charset="0"/>
                <a:ea typeface="Calibri" pitchFamily="34" charset="-122"/>
                <a:cs typeface="Calibri" pitchFamily="34" charset="-120"/>
              </a:rPr>
              <a:t>    ·    MSc, Business Analytics &amp; Big Data · IE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92608"/>
          </a:xfrm>
          <a:prstGeom prst="rect">
            <a:avLst/>
          </a:prstGeom>
          <a:noFill/>
          <a:ln/>
        </p:spPr>
        <p:txBody>
          <a:bodyPr wrap="square" lIns="0" tIns="0" rIns="0" bIns="0" rtlCol="0" anchor="ctr"/>
          <a:lstStyle/>
          <a:p>
            <a:pPr indent="0" marL="0">
              <a:buNone/>
            </a:pPr>
            <a:r>
              <a:rPr lang="en-US" sz="1200" b="1" dirty="0">
                <a:solidFill>
                  <a:srgbClr val="4F46E5"/>
                </a:solidFill>
                <a:latin typeface="Calibri" pitchFamily="34" charset="0"/>
                <a:ea typeface="Calibri" pitchFamily="34" charset="-122"/>
                <a:cs typeface="Calibri" pitchFamily="34" charset="-120"/>
              </a:rPr>
              <a:t>FERO</a:t>
            </a:r>
            <a:pPr indent="0" marL="0">
              <a:buNone/>
            </a:pPr>
            <a:r>
              <a:rPr lang="en-US" sz="1100" b="1" dirty="0">
                <a:solidFill>
                  <a:srgbClr val="6B7280"/>
                </a:solidFill>
                <a:latin typeface="Calibri" pitchFamily="34" charset="0"/>
                <a:ea typeface="Calibri" pitchFamily="34" charset="-122"/>
                <a:cs typeface="Calibri" pitchFamily="34" charset="-120"/>
              </a:rPr>
              <a:t>    01 · The way of working</a:t>
            </a:r>
            <a:endParaRPr lang="en-US" sz="1200" dirty="0"/>
          </a:p>
        </p:txBody>
      </p:sp>
      <p:sp>
        <p:nvSpPr>
          <p:cNvPr id="3" name="Text 1"/>
          <p:cNvSpPr/>
          <p:nvPr/>
        </p:nvSpPr>
        <p:spPr>
          <a:xfrm>
            <a:off x="548640" y="749808"/>
            <a:ext cx="11094415" cy="548640"/>
          </a:xfrm>
          <a:prstGeom prst="rect">
            <a:avLst/>
          </a:prstGeom>
          <a:noFill/>
          <a:ln/>
        </p:spPr>
        <p:txBody>
          <a:bodyPr wrap="square" lIns="0" tIns="0" rIns="0" bIns="0" rtlCol="0" anchor="ctr"/>
          <a:lstStyle/>
          <a:p>
            <a:pPr indent="0" marL="0">
              <a:buNone/>
            </a:pPr>
            <a:r>
              <a:rPr lang="en-US" sz="3000" b="1" dirty="0">
                <a:solidFill>
                  <a:srgbClr val="0A0A0A"/>
                </a:solidFill>
                <a:latin typeface="Calibri" pitchFamily="34" charset="0"/>
                <a:ea typeface="Calibri" pitchFamily="34" charset="-122"/>
                <a:cs typeface="Calibri" pitchFamily="34" charset="-120"/>
              </a:rPr>
              <a:t>Three problems. One root cause. One way out.</a:t>
            </a:r>
            <a:endParaRPr lang="en-US" sz="3000" dirty="0"/>
          </a:p>
        </p:txBody>
      </p:sp>
      <p:sp>
        <p:nvSpPr>
          <p:cNvPr id="4" name="Text 2"/>
          <p:cNvSpPr/>
          <p:nvPr/>
        </p:nvSpPr>
        <p:spPr>
          <a:xfrm>
            <a:off x="548640" y="1353312"/>
            <a:ext cx="11094415" cy="36576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Every problem gets the same two moves — put out the fire this week, build the guardrail next sprint.</a:t>
            </a:r>
            <a:endParaRPr lang="en-US" sz="1500" dirty="0"/>
          </a:p>
        </p:txBody>
      </p:sp>
      <p:sp>
        <p:nvSpPr>
          <p:cNvPr id="5" name="Shape 3"/>
          <p:cNvSpPr/>
          <p:nvPr/>
        </p:nvSpPr>
        <p:spPr>
          <a:xfrm>
            <a:off x="548640" y="2011680"/>
            <a:ext cx="5394960" cy="3383280"/>
          </a:xfrm>
          <a:prstGeom prst="roundRect">
            <a:avLst>
              <a:gd name="adj" fmla="val 2703"/>
            </a:avLst>
          </a:prstGeom>
          <a:solidFill>
            <a:srgbClr val="FFFBEB"/>
          </a:solidFill>
          <a:ln w="12700">
            <a:solidFill>
              <a:srgbClr val="D97706"/>
            </a:solidFill>
            <a:prstDash val="solid"/>
          </a:ln>
        </p:spPr>
      </p:sp>
      <p:sp>
        <p:nvSpPr>
          <p:cNvPr id="6" name="Text 4"/>
          <p:cNvSpPr/>
          <p:nvPr/>
        </p:nvSpPr>
        <p:spPr>
          <a:xfrm>
            <a:off x="914400" y="2304288"/>
            <a:ext cx="4572000" cy="274320"/>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TRACK 1 · THIS WEEK</a:t>
            </a:r>
            <a:endParaRPr lang="en-US" sz="1200" dirty="0"/>
          </a:p>
        </p:txBody>
      </p:sp>
      <p:sp>
        <p:nvSpPr>
          <p:cNvPr id="7" name="Text 5"/>
          <p:cNvSpPr/>
          <p:nvPr/>
        </p:nvSpPr>
        <p:spPr>
          <a:xfrm>
            <a:off x="914400" y="2606040"/>
            <a:ext cx="4754880" cy="502920"/>
          </a:xfrm>
          <a:prstGeom prst="rect">
            <a:avLst/>
          </a:prstGeom>
          <a:noFill/>
          <a:ln/>
        </p:spPr>
        <p:txBody>
          <a:bodyPr wrap="square" lIns="0" tIns="0" rIns="0" bIns="0" rtlCol="0" anchor="ctr"/>
          <a:lstStyle/>
          <a:p>
            <a:pPr indent="0" marL="0">
              <a:buNone/>
            </a:pPr>
            <a:r>
              <a:rPr lang="en-US" sz="2700" b="1" dirty="0">
                <a:solidFill>
                  <a:srgbClr val="0A0A0A"/>
                </a:solidFill>
                <a:latin typeface="Calibri" pitchFamily="34" charset="0"/>
                <a:ea typeface="Calibri" pitchFamily="34" charset="-122"/>
                <a:cs typeface="Calibri" pitchFamily="34" charset="-120"/>
              </a:rPr>
              <a:t>Put out the fire</a:t>
            </a:r>
            <a:endParaRPr lang="en-US" sz="2700" dirty="0"/>
          </a:p>
        </p:txBody>
      </p:sp>
      <p:sp>
        <p:nvSpPr>
          <p:cNvPr id="8" name="Text 6"/>
          <p:cNvSpPr/>
          <p:nvPr/>
        </p:nvSpPr>
        <p:spPr>
          <a:xfrm>
            <a:off x="914400" y="3154680"/>
            <a:ext cx="4754880" cy="365760"/>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Find the real cause with evidence, then ship the fix.</a:t>
            </a:r>
            <a:endParaRPr lang="en-US" sz="1400" dirty="0"/>
          </a:p>
        </p:txBody>
      </p:sp>
      <p:sp>
        <p:nvSpPr>
          <p:cNvPr id="9" name="Text 7"/>
          <p:cNvSpPr/>
          <p:nvPr/>
        </p:nvSpPr>
        <p:spPr>
          <a:xfrm>
            <a:off x="914400" y="3703320"/>
            <a:ext cx="365760" cy="292608"/>
          </a:xfrm>
          <a:prstGeom prst="rect">
            <a:avLst/>
          </a:prstGeom>
          <a:noFill/>
          <a:ln/>
        </p:spPr>
        <p:txBody>
          <a:bodyPr wrap="square" lIns="0" tIns="0" rIns="0" bIns="0" rtlCol="0" anchor="ctr"/>
          <a:lstStyle/>
          <a:p>
            <a:pPr indent="0" marL="0">
              <a:buNone/>
            </a:pPr>
            <a:r>
              <a:rPr lang="en-US" sz="1400" b="1" dirty="0">
                <a:solidFill>
                  <a:srgbClr val="D97706"/>
                </a:solidFill>
                <a:latin typeface="Consolas" pitchFamily="34" charset="0"/>
                <a:ea typeface="Consolas" pitchFamily="34" charset="-122"/>
                <a:cs typeface="Consolas" pitchFamily="34" charset="-120"/>
              </a:rPr>
              <a:t>1</a:t>
            </a:r>
            <a:endParaRPr lang="en-US" sz="1400" dirty="0"/>
          </a:p>
        </p:txBody>
      </p:sp>
      <p:sp>
        <p:nvSpPr>
          <p:cNvPr id="10" name="Text 8"/>
          <p:cNvSpPr/>
          <p:nvPr/>
        </p:nvSpPr>
        <p:spPr>
          <a:xfrm>
            <a:off x="1325880" y="3703320"/>
            <a:ext cx="4389120" cy="292608"/>
          </a:xfrm>
          <a:prstGeom prst="rect">
            <a:avLst/>
          </a:prstGeom>
          <a:noFill/>
          <a:ln/>
        </p:spPr>
        <p:txBody>
          <a:bodyPr wrap="square" lIns="0" tIns="0" rIns="0" bIns="0" rtlCol="0" anchor="ctr"/>
          <a:lstStyle/>
          <a:p>
            <a:pPr indent="0" marL="0">
              <a:buNone/>
            </a:pPr>
            <a:r>
              <a:rPr lang="en-US" sz="1350" dirty="0">
                <a:solidFill>
                  <a:srgbClr val="111827"/>
                </a:solidFill>
                <a:latin typeface="Calibri" pitchFamily="34" charset="0"/>
                <a:ea typeface="Calibri" pitchFamily="34" charset="-122"/>
                <a:cs typeface="Calibri" pitchFamily="34" charset="-120"/>
              </a:rPr>
              <a:t>Check the math — not the design</a:t>
            </a:r>
            <a:endParaRPr lang="en-US" sz="1350" dirty="0"/>
          </a:p>
        </p:txBody>
      </p:sp>
      <p:sp>
        <p:nvSpPr>
          <p:cNvPr id="11" name="Text 9"/>
          <p:cNvSpPr/>
          <p:nvPr/>
        </p:nvSpPr>
        <p:spPr>
          <a:xfrm>
            <a:off x="914400" y="4206240"/>
            <a:ext cx="365760" cy="292608"/>
          </a:xfrm>
          <a:prstGeom prst="rect">
            <a:avLst/>
          </a:prstGeom>
          <a:noFill/>
          <a:ln/>
        </p:spPr>
        <p:txBody>
          <a:bodyPr wrap="square" lIns="0" tIns="0" rIns="0" bIns="0" rtlCol="0" anchor="ctr"/>
          <a:lstStyle/>
          <a:p>
            <a:pPr indent="0" marL="0">
              <a:buNone/>
            </a:pPr>
            <a:r>
              <a:rPr lang="en-US" sz="1400" b="1" dirty="0">
                <a:solidFill>
                  <a:srgbClr val="D97706"/>
                </a:solidFill>
                <a:latin typeface="Consolas" pitchFamily="34" charset="0"/>
                <a:ea typeface="Consolas" pitchFamily="34" charset="-122"/>
                <a:cs typeface="Consolas" pitchFamily="34" charset="-120"/>
              </a:rPr>
              <a:t>2</a:t>
            </a:r>
            <a:endParaRPr lang="en-US" sz="1400" dirty="0"/>
          </a:p>
        </p:txBody>
      </p:sp>
      <p:sp>
        <p:nvSpPr>
          <p:cNvPr id="12" name="Text 10"/>
          <p:cNvSpPr/>
          <p:nvPr/>
        </p:nvSpPr>
        <p:spPr>
          <a:xfrm>
            <a:off x="1325880" y="4206240"/>
            <a:ext cx="4389120" cy="292608"/>
          </a:xfrm>
          <a:prstGeom prst="rect">
            <a:avLst/>
          </a:prstGeom>
          <a:noFill/>
          <a:ln/>
        </p:spPr>
        <p:txBody>
          <a:bodyPr wrap="square" lIns="0" tIns="0" rIns="0" bIns="0" rtlCol="0" anchor="ctr"/>
          <a:lstStyle/>
          <a:p>
            <a:pPr indent="0" marL="0">
              <a:buNone/>
            </a:pPr>
            <a:r>
              <a:rPr lang="en-US" sz="1350" dirty="0">
                <a:solidFill>
                  <a:srgbClr val="111827"/>
                </a:solidFill>
                <a:latin typeface="Calibri" pitchFamily="34" charset="0"/>
                <a:ea typeface="Calibri" pitchFamily="34" charset="-122"/>
                <a:cs typeface="Calibri" pitchFamily="34" charset="-120"/>
              </a:rPr>
              <a:t>Watch what merchants actually do</a:t>
            </a:r>
            <a:endParaRPr lang="en-US" sz="1350" dirty="0"/>
          </a:p>
        </p:txBody>
      </p:sp>
      <p:sp>
        <p:nvSpPr>
          <p:cNvPr id="13" name="Text 11"/>
          <p:cNvSpPr/>
          <p:nvPr/>
        </p:nvSpPr>
        <p:spPr>
          <a:xfrm>
            <a:off x="914400" y="4709160"/>
            <a:ext cx="365760" cy="292608"/>
          </a:xfrm>
          <a:prstGeom prst="rect">
            <a:avLst/>
          </a:prstGeom>
          <a:noFill/>
          <a:ln/>
        </p:spPr>
        <p:txBody>
          <a:bodyPr wrap="square" lIns="0" tIns="0" rIns="0" bIns="0" rtlCol="0" anchor="ctr"/>
          <a:lstStyle/>
          <a:p>
            <a:pPr indent="0" marL="0">
              <a:buNone/>
            </a:pPr>
            <a:r>
              <a:rPr lang="en-US" sz="1400" b="1" dirty="0">
                <a:solidFill>
                  <a:srgbClr val="D97706"/>
                </a:solidFill>
                <a:latin typeface="Consolas" pitchFamily="34" charset="0"/>
                <a:ea typeface="Consolas" pitchFamily="34" charset="-122"/>
                <a:cs typeface="Consolas" pitchFamily="34" charset="-120"/>
              </a:rPr>
              <a:t>3</a:t>
            </a:r>
            <a:endParaRPr lang="en-US" sz="1400" dirty="0"/>
          </a:p>
        </p:txBody>
      </p:sp>
      <p:sp>
        <p:nvSpPr>
          <p:cNvPr id="14" name="Text 12"/>
          <p:cNvSpPr/>
          <p:nvPr/>
        </p:nvSpPr>
        <p:spPr>
          <a:xfrm>
            <a:off x="1325880" y="4709160"/>
            <a:ext cx="4389120" cy="292608"/>
          </a:xfrm>
          <a:prstGeom prst="rect">
            <a:avLst/>
          </a:prstGeom>
          <a:noFill/>
          <a:ln/>
        </p:spPr>
        <p:txBody>
          <a:bodyPr wrap="square" lIns="0" tIns="0" rIns="0" bIns="0" rtlCol="0" anchor="ctr"/>
          <a:lstStyle/>
          <a:p>
            <a:pPr indent="0" marL="0">
              <a:buNone/>
            </a:pPr>
            <a:r>
              <a:rPr lang="en-US" sz="1350" dirty="0">
                <a:solidFill>
                  <a:srgbClr val="111827"/>
                </a:solidFill>
                <a:latin typeface="Calibri" pitchFamily="34" charset="0"/>
                <a:ea typeface="Calibri" pitchFamily="34" charset="-122"/>
                <a:cs typeface="Calibri" pitchFamily="34" charset="-120"/>
              </a:rPr>
              <a:t>Then ask the merchants directly</a:t>
            </a:r>
            <a:endParaRPr lang="en-US" sz="1350" dirty="0"/>
          </a:p>
        </p:txBody>
      </p:sp>
      <p:sp>
        <p:nvSpPr>
          <p:cNvPr id="15" name="Shape 13"/>
          <p:cNvSpPr/>
          <p:nvPr/>
        </p:nvSpPr>
        <p:spPr>
          <a:xfrm>
            <a:off x="6126480" y="2011680"/>
            <a:ext cx="5394960" cy="3383280"/>
          </a:xfrm>
          <a:prstGeom prst="roundRect">
            <a:avLst>
              <a:gd name="adj" fmla="val 2703"/>
            </a:avLst>
          </a:prstGeom>
          <a:solidFill>
            <a:srgbClr val="EEF2FF"/>
          </a:solidFill>
          <a:ln w="12700">
            <a:solidFill>
              <a:srgbClr val="4F46E5"/>
            </a:solidFill>
            <a:prstDash val="solid"/>
          </a:ln>
        </p:spPr>
      </p:sp>
      <p:sp>
        <p:nvSpPr>
          <p:cNvPr id="16" name="Text 14"/>
          <p:cNvSpPr/>
          <p:nvPr/>
        </p:nvSpPr>
        <p:spPr>
          <a:xfrm>
            <a:off x="6492240" y="2304288"/>
            <a:ext cx="4572000" cy="274320"/>
          </a:xfrm>
          <a:prstGeom prst="rect">
            <a:avLst/>
          </a:prstGeom>
          <a:noFill/>
          <a:ln/>
        </p:spPr>
        <p:txBody>
          <a:bodyPr wrap="square" lIns="0" tIns="0" rIns="0" bIns="0" rtlCol="0" anchor="ctr"/>
          <a:lstStyle/>
          <a:p>
            <a:pPr indent="0" marL="0">
              <a:buNone/>
            </a:pPr>
            <a:r>
              <a:rPr lang="en-US" sz="1200" b="1" dirty="0">
                <a:solidFill>
                  <a:srgbClr val="4F46E5"/>
                </a:solidFill>
                <a:latin typeface="Calibri" pitchFamily="34" charset="0"/>
                <a:ea typeface="Calibri" pitchFamily="34" charset="-122"/>
                <a:cs typeface="Calibri" pitchFamily="34" charset="-120"/>
              </a:rPr>
              <a:t>TRACK 2 · NEXT SPRINT</a:t>
            </a:r>
            <a:endParaRPr lang="en-US" sz="1200" dirty="0"/>
          </a:p>
        </p:txBody>
      </p:sp>
      <p:sp>
        <p:nvSpPr>
          <p:cNvPr id="17" name="Text 15"/>
          <p:cNvSpPr/>
          <p:nvPr/>
        </p:nvSpPr>
        <p:spPr>
          <a:xfrm>
            <a:off x="6492240" y="2606040"/>
            <a:ext cx="4754880" cy="502920"/>
          </a:xfrm>
          <a:prstGeom prst="rect">
            <a:avLst/>
          </a:prstGeom>
          <a:noFill/>
          <a:ln/>
        </p:spPr>
        <p:txBody>
          <a:bodyPr wrap="square" lIns="0" tIns="0" rIns="0" bIns="0" rtlCol="0" anchor="ctr"/>
          <a:lstStyle/>
          <a:p>
            <a:pPr indent="0" marL="0">
              <a:buNone/>
            </a:pPr>
            <a:r>
              <a:rPr lang="en-US" sz="2700" b="1" dirty="0">
                <a:solidFill>
                  <a:srgbClr val="0A0A0A"/>
                </a:solidFill>
                <a:latin typeface="Calibri" pitchFamily="34" charset="0"/>
                <a:ea typeface="Calibri" pitchFamily="34" charset="-122"/>
                <a:cs typeface="Calibri" pitchFamily="34" charset="-120"/>
              </a:rPr>
              <a:t>Stop it coming back</a:t>
            </a:r>
            <a:endParaRPr lang="en-US" sz="2700" dirty="0"/>
          </a:p>
        </p:txBody>
      </p:sp>
      <p:sp>
        <p:nvSpPr>
          <p:cNvPr id="18" name="Text 16"/>
          <p:cNvSpPr/>
          <p:nvPr/>
        </p:nvSpPr>
        <p:spPr>
          <a:xfrm>
            <a:off x="6492240" y="3154680"/>
            <a:ext cx="4754880" cy="365760"/>
          </a:xfrm>
          <a:prstGeom prst="rect">
            <a:avLst/>
          </a:prstGeom>
          <a:noFill/>
          <a:ln/>
        </p:spPr>
        <p:txBody>
          <a:bodyPr wrap="square" lIns="0" tIns="0" rIns="0" bIns="0" rtlCol="0" anchor="ctr"/>
          <a:lstStyle/>
          <a:p>
            <a:pPr indent="0" marL="0">
              <a:buNone/>
            </a:pPr>
            <a:r>
              <a:rPr lang="en-US" sz="1400" dirty="0">
                <a:solidFill>
                  <a:srgbClr val="4B5563"/>
                </a:solidFill>
                <a:latin typeface="Calibri" pitchFamily="34" charset="0"/>
                <a:ea typeface="Calibri" pitchFamily="34" charset="-122"/>
                <a:cs typeface="Calibri" pitchFamily="34" charset="-120"/>
              </a:rPr>
              <a:t>Build the guardrail that catches it early next time.</a:t>
            </a:r>
            <a:endParaRPr lang="en-US" sz="1400" dirty="0"/>
          </a:p>
        </p:txBody>
      </p:sp>
      <p:sp>
        <p:nvSpPr>
          <p:cNvPr id="19" name="Text 17"/>
          <p:cNvSpPr/>
          <p:nvPr/>
        </p:nvSpPr>
        <p:spPr>
          <a:xfrm>
            <a:off x="6492240" y="3703320"/>
            <a:ext cx="365760" cy="292608"/>
          </a:xfrm>
          <a:prstGeom prst="rect">
            <a:avLst/>
          </a:prstGeom>
          <a:noFill/>
          <a:ln/>
        </p:spPr>
        <p:txBody>
          <a:bodyPr wrap="square" lIns="0" tIns="0" rIns="0" bIns="0" rtlCol="0" anchor="ctr"/>
          <a:lstStyle/>
          <a:p>
            <a:pPr indent="0" marL="0">
              <a:buNone/>
            </a:pPr>
            <a:r>
              <a:rPr lang="en-US" sz="1400" b="1" dirty="0">
                <a:solidFill>
                  <a:srgbClr val="4F46E5"/>
                </a:solidFill>
                <a:latin typeface="Consolas" pitchFamily="34" charset="0"/>
                <a:ea typeface="Consolas" pitchFamily="34" charset="-122"/>
                <a:cs typeface="Consolas" pitchFamily="34" charset="-120"/>
              </a:rPr>
              <a:t>1</a:t>
            </a:r>
            <a:endParaRPr lang="en-US" sz="1400" dirty="0"/>
          </a:p>
        </p:txBody>
      </p:sp>
      <p:sp>
        <p:nvSpPr>
          <p:cNvPr id="20" name="Text 18"/>
          <p:cNvSpPr/>
          <p:nvPr/>
        </p:nvSpPr>
        <p:spPr>
          <a:xfrm>
            <a:off x="6903720" y="3703320"/>
            <a:ext cx="4389120" cy="292608"/>
          </a:xfrm>
          <a:prstGeom prst="rect">
            <a:avLst/>
          </a:prstGeom>
          <a:noFill/>
          <a:ln/>
        </p:spPr>
        <p:txBody>
          <a:bodyPr wrap="square" lIns="0" tIns="0" rIns="0" bIns="0" rtlCol="0" anchor="ctr"/>
          <a:lstStyle/>
          <a:p>
            <a:pPr indent="0" marL="0">
              <a:buNone/>
            </a:pPr>
            <a:r>
              <a:rPr lang="en-US" sz="1350" dirty="0">
                <a:solidFill>
                  <a:srgbClr val="111827"/>
                </a:solidFill>
                <a:latin typeface="Calibri" pitchFamily="34" charset="0"/>
                <a:ea typeface="Calibri" pitchFamily="34" charset="-122"/>
                <a:cs typeface="Calibri" pitchFamily="34" charset="-120"/>
              </a:rPr>
              <a:t>Test every change safely first</a:t>
            </a:r>
            <a:endParaRPr lang="en-US" sz="1350" dirty="0"/>
          </a:p>
        </p:txBody>
      </p:sp>
      <p:sp>
        <p:nvSpPr>
          <p:cNvPr id="21" name="Text 19"/>
          <p:cNvSpPr/>
          <p:nvPr/>
        </p:nvSpPr>
        <p:spPr>
          <a:xfrm>
            <a:off x="6492240" y="4206240"/>
            <a:ext cx="365760" cy="292608"/>
          </a:xfrm>
          <a:prstGeom prst="rect">
            <a:avLst/>
          </a:prstGeom>
          <a:noFill/>
          <a:ln/>
        </p:spPr>
        <p:txBody>
          <a:bodyPr wrap="square" lIns="0" tIns="0" rIns="0" bIns="0" rtlCol="0" anchor="ctr"/>
          <a:lstStyle/>
          <a:p>
            <a:pPr indent="0" marL="0">
              <a:buNone/>
            </a:pPr>
            <a:r>
              <a:rPr lang="en-US" sz="1400" b="1" dirty="0">
                <a:solidFill>
                  <a:srgbClr val="4F46E5"/>
                </a:solidFill>
                <a:latin typeface="Consolas" pitchFamily="34" charset="0"/>
                <a:ea typeface="Consolas" pitchFamily="34" charset="-122"/>
                <a:cs typeface="Consolas" pitchFamily="34" charset="-120"/>
              </a:rPr>
              <a:t>2</a:t>
            </a:r>
            <a:endParaRPr lang="en-US" sz="1400" dirty="0"/>
          </a:p>
        </p:txBody>
      </p:sp>
      <p:sp>
        <p:nvSpPr>
          <p:cNvPr id="22" name="Text 20"/>
          <p:cNvSpPr/>
          <p:nvPr/>
        </p:nvSpPr>
        <p:spPr>
          <a:xfrm>
            <a:off x="6903720" y="4206240"/>
            <a:ext cx="4389120" cy="292608"/>
          </a:xfrm>
          <a:prstGeom prst="rect">
            <a:avLst/>
          </a:prstGeom>
          <a:noFill/>
          <a:ln/>
        </p:spPr>
        <p:txBody>
          <a:bodyPr wrap="square" lIns="0" tIns="0" rIns="0" bIns="0" rtlCol="0" anchor="ctr"/>
          <a:lstStyle/>
          <a:p>
            <a:pPr indent="0" marL="0">
              <a:buNone/>
            </a:pPr>
            <a:r>
              <a:rPr lang="en-US" sz="1350" dirty="0">
                <a:solidFill>
                  <a:srgbClr val="111827"/>
                </a:solidFill>
                <a:latin typeface="Calibri" pitchFamily="34" charset="0"/>
                <a:ea typeface="Calibri" pitchFamily="34" charset="-122"/>
                <a:cs typeface="Calibri" pitchFamily="34" charset="-120"/>
              </a:rPr>
              <a:t>Score the risk automatically</a:t>
            </a:r>
            <a:endParaRPr lang="en-US" sz="1350" dirty="0"/>
          </a:p>
        </p:txBody>
      </p:sp>
      <p:sp>
        <p:nvSpPr>
          <p:cNvPr id="23" name="Text 21"/>
          <p:cNvSpPr/>
          <p:nvPr/>
        </p:nvSpPr>
        <p:spPr>
          <a:xfrm>
            <a:off x="6492240" y="4709160"/>
            <a:ext cx="365760" cy="292608"/>
          </a:xfrm>
          <a:prstGeom prst="rect">
            <a:avLst/>
          </a:prstGeom>
          <a:noFill/>
          <a:ln/>
        </p:spPr>
        <p:txBody>
          <a:bodyPr wrap="square" lIns="0" tIns="0" rIns="0" bIns="0" rtlCol="0" anchor="ctr"/>
          <a:lstStyle/>
          <a:p>
            <a:pPr indent="0" marL="0">
              <a:buNone/>
            </a:pPr>
            <a:r>
              <a:rPr lang="en-US" sz="1400" b="1" dirty="0">
                <a:solidFill>
                  <a:srgbClr val="4F46E5"/>
                </a:solidFill>
                <a:latin typeface="Consolas" pitchFamily="34" charset="0"/>
                <a:ea typeface="Consolas" pitchFamily="34" charset="-122"/>
                <a:cs typeface="Consolas" pitchFamily="34" charset="-120"/>
              </a:rPr>
              <a:t>3</a:t>
            </a:r>
            <a:endParaRPr lang="en-US" sz="1400" dirty="0"/>
          </a:p>
        </p:txBody>
      </p:sp>
      <p:sp>
        <p:nvSpPr>
          <p:cNvPr id="24" name="Text 22"/>
          <p:cNvSpPr/>
          <p:nvPr/>
        </p:nvSpPr>
        <p:spPr>
          <a:xfrm>
            <a:off x="6903720" y="4709160"/>
            <a:ext cx="4389120" cy="292608"/>
          </a:xfrm>
          <a:prstGeom prst="rect">
            <a:avLst/>
          </a:prstGeom>
          <a:noFill/>
          <a:ln/>
        </p:spPr>
        <p:txBody>
          <a:bodyPr wrap="square" lIns="0" tIns="0" rIns="0" bIns="0" rtlCol="0" anchor="ctr"/>
          <a:lstStyle/>
          <a:p>
            <a:pPr indent="0" marL="0">
              <a:buNone/>
            </a:pPr>
            <a:r>
              <a:rPr lang="en-US" sz="1350" dirty="0">
                <a:solidFill>
                  <a:srgbClr val="111827"/>
                </a:solidFill>
                <a:latin typeface="Calibri" pitchFamily="34" charset="0"/>
                <a:ea typeface="Calibri" pitchFamily="34" charset="-122"/>
                <a:cs typeface="Calibri" pitchFamily="34" charset="-120"/>
              </a:rPr>
              <a:t>Give urgent work a set lane</a:t>
            </a:r>
            <a:endParaRPr lang="en-US" sz="1350" dirty="0"/>
          </a:p>
        </p:txBody>
      </p:sp>
      <p:sp>
        <p:nvSpPr>
          <p:cNvPr id="25" name="Shape 23"/>
          <p:cNvSpPr/>
          <p:nvPr/>
        </p:nvSpPr>
        <p:spPr>
          <a:xfrm>
            <a:off x="2880360" y="5577840"/>
            <a:ext cx="6400800" cy="502920"/>
          </a:xfrm>
          <a:prstGeom prst="roundRect">
            <a:avLst>
              <a:gd name="adj" fmla="val 14545"/>
            </a:avLst>
          </a:prstGeom>
          <a:solidFill>
            <a:srgbClr val="0A0A0A"/>
          </a:solidFill>
          <a:ln w="12700">
            <a:solidFill>
              <a:srgbClr val="0A0A0A"/>
            </a:solidFill>
            <a:prstDash val="solid"/>
          </a:ln>
        </p:spPr>
      </p:sp>
      <p:sp>
        <p:nvSpPr>
          <p:cNvPr id="26" name="Text 24"/>
          <p:cNvSpPr/>
          <p:nvPr/>
        </p:nvSpPr>
        <p:spPr>
          <a:xfrm>
            <a:off x="2880360" y="5577840"/>
            <a:ext cx="6400800" cy="502920"/>
          </a:xfrm>
          <a:prstGeom prst="rect">
            <a:avLst/>
          </a:prstGeom>
          <a:noFill/>
          <a:ln/>
        </p:spPr>
        <p:txBody>
          <a:bodyPr wrap="square" lIns="0" tIns="0" rIns="0" bIns="0"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THE SHIFT THAT MATTERS    </a:t>
            </a:r>
            <a:pPr algn="ctr" indent="0" marL="0">
              <a:buNone/>
            </a:pPr>
            <a:r>
              <a:rPr lang="en-US" sz="1350" dirty="0">
                <a:solidFill>
                  <a:srgbClr val="FFFFFF"/>
                </a:solidFill>
                <a:latin typeface="Calibri" pitchFamily="34" charset="0"/>
                <a:ea typeface="Calibri" pitchFamily="34" charset="-122"/>
                <a:cs typeface="Calibri" pitchFamily="34" charset="-120"/>
              </a:rPr>
              <a:t>Stop counting activity. Move the numbers merchants feel.</a:t>
            </a:r>
            <a:endParaRPr lang="en-US" sz="1100" dirty="0"/>
          </a:p>
        </p:txBody>
      </p:sp>
      <p:sp>
        <p:nvSpPr>
          <p:cNvPr id="27" name="Shape 25"/>
          <p:cNvSpPr/>
          <p:nvPr/>
        </p:nvSpPr>
        <p:spPr>
          <a:xfrm>
            <a:off x="548640" y="6400800"/>
            <a:ext cx="11094415" cy="0"/>
          </a:xfrm>
          <a:prstGeom prst="line">
            <a:avLst/>
          </a:prstGeom>
          <a:noFill/>
          <a:ln w="6350">
            <a:solidFill>
              <a:srgbClr val="E5E7EB"/>
            </a:solidFill>
            <a:prstDash val="solid"/>
          </a:ln>
        </p:spPr>
      </p:sp>
      <p:sp>
        <p:nvSpPr>
          <p:cNvPr id="28" name="Text 26"/>
          <p:cNvSpPr/>
          <p:nvPr/>
        </p:nvSpPr>
        <p:spPr>
          <a:xfrm>
            <a:off x="548640" y="6528816"/>
            <a:ext cx="10454335" cy="237744"/>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Moses Bargue Kortu Jr.</a:t>
            </a:r>
            <a:pPr indent="0" marL="0">
              <a:buNone/>
            </a:pPr>
            <a:r>
              <a:rPr lang="en-US" sz="900" dirty="0">
                <a:solidFill>
                  <a:srgbClr val="9CA3AF"/>
                </a:solidFill>
                <a:latin typeface="Calibri" pitchFamily="34" charset="0"/>
                <a:ea typeface="Calibri" pitchFamily="34" charset="-122"/>
                <a:cs typeface="Calibri" pitchFamily="34" charset="-120"/>
              </a:rPr>
              <a:t>    ·    TPO case  ·  August 2026</a:t>
            </a:r>
            <a:endParaRPr lang="en-US" sz="900" dirty="0"/>
          </a:p>
        </p:txBody>
      </p:sp>
      <p:sp>
        <p:nvSpPr>
          <p:cNvPr id="29" name="Text 27"/>
          <p:cNvSpPr/>
          <p:nvPr/>
        </p:nvSpPr>
        <p:spPr>
          <a:xfrm>
            <a:off x="11002975" y="6528816"/>
            <a:ext cx="457200" cy="237744"/>
          </a:xfrm>
          <a:prstGeom prst="rect">
            <a:avLst/>
          </a:prstGeom>
          <a:noFill/>
          <a:ln/>
        </p:spPr>
        <p:txBody>
          <a:bodyPr wrap="square" lIns="0" tIns="0" rIns="0" bIns="0" rtlCol="0" anchor="ctr"/>
          <a:lstStyle/>
          <a:p>
            <a:pPr algn="r" indent="0" marL="0">
              <a:buNone/>
            </a:pPr>
            <a:r>
              <a:rPr lang="en-US" sz="1000" dirty="0">
                <a:solidFill>
                  <a:srgbClr val="9CA3AF"/>
                </a:solidFill>
                <a:latin typeface="Consolas" pitchFamily="34" charset="0"/>
                <a:ea typeface="Consolas" pitchFamily="34" charset="-122"/>
                <a:cs typeface="Consola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92608"/>
          </a:xfrm>
          <a:prstGeom prst="rect">
            <a:avLst/>
          </a:prstGeom>
          <a:noFill/>
          <a:ln/>
        </p:spPr>
        <p:txBody>
          <a:bodyPr wrap="square" lIns="0" tIns="0" rIns="0" bIns="0" rtlCol="0" anchor="ctr"/>
          <a:lstStyle/>
          <a:p>
            <a:pPr indent="0" marL="0">
              <a:buNone/>
            </a:pPr>
            <a:r>
              <a:rPr lang="en-US" sz="1200" b="1" dirty="0">
                <a:solidFill>
                  <a:srgbClr val="4F46E5"/>
                </a:solidFill>
                <a:latin typeface="Calibri" pitchFamily="34" charset="0"/>
                <a:ea typeface="Calibri" pitchFamily="34" charset="-122"/>
                <a:cs typeface="Calibri" pitchFamily="34" charset="-120"/>
              </a:rPr>
              <a:t>FERO</a:t>
            </a:r>
            <a:pPr indent="0" marL="0">
              <a:buNone/>
            </a:pPr>
            <a:r>
              <a:rPr lang="en-US" sz="1100" b="1" dirty="0">
                <a:solidFill>
                  <a:srgbClr val="6B7280"/>
                </a:solidFill>
                <a:latin typeface="Calibri" pitchFamily="34" charset="0"/>
                <a:ea typeface="Calibri" pitchFamily="34" charset="-122"/>
                <a:cs typeface="Calibri" pitchFamily="34" charset="-120"/>
              </a:rPr>
              <a:t>    02 · Problem 1 · Merchants leaving over wrong numbers</a:t>
            </a:r>
            <a:endParaRPr lang="en-US" sz="1200" dirty="0"/>
          </a:p>
        </p:txBody>
      </p:sp>
      <p:sp>
        <p:nvSpPr>
          <p:cNvPr id="3" name="Text 1"/>
          <p:cNvSpPr/>
          <p:nvPr/>
        </p:nvSpPr>
        <p:spPr>
          <a:xfrm>
            <a:off x="548640" y="749808"/>
            <a:ext cx="11094415" cy="502920"/>
          </a:xfrm>
          <a:prstGeom prst="rect">
            <a:avLst/>
          </a:prstGeom>
          <a:noFill/>
          <a:ln/>
        </p:spPr>
        <p:txBody>
          <a:bodyPr wrap="square" lIns="0" tIns="0" rIns="0" bIns="0" rtlCol="0" anchor="ctr"/>
          <a:lstStyle/>
          <a:p>
            <a:pPr indent="0" marL="0">
              <a:buNone/>
            </a:pPr>
            <a:r>
              <a:rPr lang="en-US" sz="2700" b="1" dirty="0">
                <a:solidFill>
                  <a:srgbClr val="0A0A0A"/>
                </a:solidFill>
                <a:latin typeface="Calibri" pitchFamily="34" charset="0"/>
                <a:ea typeface="Calibri" pitchFamily="34" charset="-122"/>
                <a:cs typeface="Calibri" pitchFamily="34" charset="-120"/>
              </a:rPr>
              <a:t>Merchants are leaving over wrong numbers.</a:t>
            </a:r>
            <a:endParaRPr lang="en-US" sz="2700" dirty="0"/>
          </a:p>
        </p:txBody>
      </p:sp>
      <p:sp>
        <p:nvSpPr>
          <p:cNvPr id="4" name="Text 2"/>
          <p:cNvSpPr/>
          <p:nvPr/>
        </p:nvSpPr>
        <p:spPr>
          <a:xfrm>
            <a:off x="548640" y="1280160"/>
            <a:ext cx="11094415" cy="347472"/>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If the numbers are wrong, no prettier screen will fix it. Start with the numbers.</a:t>
            </a:r>
            <a:endParaRPr lang="en-US" sz="1450" dirty="0"/>
          </a:p>
        </p:txBody>
      </p:sp>
      <p:sp>
        <p:nvSpPr>
          <p:cNvPr id="5" name="Text 3"/>
          <p:cNvSpPr/>
          <p:nvPr/>
        </p:nvSpPr>
        <p:spPr>
          <a:xfrm>
            <a:off x="548640" y="1874520"/>
            <a:ext cx="5394960" cy="274320"/>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THIS WEEK    </a:t>
            </a:r>
            <a:pPr indent="0" marL="0">
              <a:buNone/>
            </a:pPr>
            <a:r>
              <a:rPr lang="en-US" sz="1400" b="1" dirty="0">
                <a:solidFill>
                  <a:srgbClr val="0A0A0A"/>
                </a:solidFill>
                <a:latin typeface="Calibri" pitchFamily="34" charset="0"/>
                <a:ea typeface="Calibri" pitchFamily="34" charset="-122"/>
                <a:cs typeface="Calibri" pitchFamily="34" charset="-120"/>
              </a:rPr>
              <a:t>Find the real cause, in order</a:t>
            </a:r>
            <a:endParaRPr lang="en-US" sz="1100" dirty="0"/>
          </a:p>
        </p:txBody>
      </p:sp>
      <p:sp>
        <p:nvSpPr>
          <p:cNvPr id="6" name="Shape 4"/>
          <p:cNvSpPr/>
          <p:nvPr/>
        </p:nvSpPr>
        <p:spPr>
          <a:xfrm>
            <a:off x="548640" y="2331720"/>
            <a:ext cx="5394960" cy="914400"/>
          </a:xfrm>
          <a:prstGeom prst="roundRect">
            <a:avLst>
              <a:gd name="adj" fmla="val 8000"/>
            </a:avLst>
          </a:prstGeom>
          <a:solidFill>
            <a:srgbClr val="FFFFFF"/>
          </a:solidFill>
          <a:ln w="9525">
            <a:solidFill>
              <a:srgbClr val="E5E7EB"/>
            </a:solidFill>
            <a:prstDash val="solid"/>
          </a:ln>
        </p:spPr>
      </p:sp>
      <p:sp>
        <p:nvSpPr>
          <p:cNvPr id="7" name="Text 5"/>
          <p:cNvSpPr/>
          <p:nvPr/>
        </p:nvSpPr>
        <p:spPr>
          <a:xfrm>
            <a:off x="777240" y="2441448"/>
            <a:ext cx="548640" cy="694944"/>
          </a:xfrm>
          <a:prstGeom prst="rect">
            <a:avLst/>
          </a:prstGeom>
          <a:noFill/>
          <a:ln/>
        </p:spPr>
        <p:txBody>
          <a:bodyPr wrap="square" lIns="0" tIns="0" rIns="0" bIns="0" rtlCol="0" anchor="ctr"/>
          <a:lstStyle/>
          <a:p>
            <a:pPr indent="0" marL="0">
              <a:buNone/>
            </a:pPr>
            <a:r>
              <a:rPr lang="en-US" sz="3200" b="1" dirty="0">
                <a:solidFill>
                  <a:srgbClr val="4F46E5"/>
                </a:solidFill>
                <a:latin typeface="Consolas" pitchFamily="34" charset="0"/>
                <a:ea typeface="Consolas" pitchFamily="34" charset="-122"/>
                <a:cs typeface="Consolas" pitchFamily="34" charset="-120"/>
              </a:rPr>
              <a:t>1</a:t>
            </a:r>
            <a:endParaRPr lang="en-US" sz="3200" dirty="0"/>
          </a:p>
        </p:txBody>
      </p:sp>
      <p:sp>
        <p:nvSpPr>
          <p:cNvPr id="8" name="Text 6"/>
          <p:cNvSpPr/>
          <p:nvPr/>
        </p:nvSpPr>
        <p:spPr>
          <a:xfrm>
            <a:off x="1463040" y="2514600"/>
            <a:ext cx="4206240" cy="310896"/>
          </a:xfrm>
          <a:prstGeom prst="rect">
            <a:avLst/>
          </a:prstGeom>
          <a:noFill/>
          <a:ln/>
        </p:spPr>
        <p:txBody>
          <a:bodyPr wrap="square" lIns="0" tIns="0" rIns="0" bIns="0" rtlCol="0" anchor="ctr"/>
          <a:lstStyle/>
          <a:p>
            <a:pPr indent="0" marL="0">
              <a:buNone/>
            </a:pPr>
            <a:r>
              <a:rPr lang="en-US" sz="1550" b="1" dirty="0">
                <a:solidFill>
                  <a:srgbClr val="0A0A0A"/>
                </a:solidFill>
                <a:latin typeface="Calibri" pitchFamily="34" charset="0"/>
                <a:ea typeface="Calibri" pitchFamily="34" charset="-122"/>
                <a:cs typeface="Calibri" pitchFamily="34" charset="-120"/>
              </a:rPr>
              <a:t>Check the math</a:t>
            </a:r>
            <a:endParaRPr lang="en-US" sz="1550" dirty="0"/>
          </a:p>
        </p:txBody>
      </p:sp>
      <p:sp>
        <p:nvSpPr>
          <p:cNvPr id="9" name="Text 7"/>
          <p:cNvSpPr/>
          <p:nvPr/>
        </p:nvSpPr>
        <p:spPr>
          <a:xfrm>
            <a:off x="1463040" y="2834640"/>
            <a:ext cx="4297680" cy="329184"/>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Compare our ledger to the raw gateway records. Days 1–2.</a:t>
            </a:r>
            <a:endParaRPr lang="en-US" sz="1150" dirty="0"/>
          </a:p>
        </p:txBody>
      </p:sp>
      <p:sp>
        <p:nvSpPr>
          <p:cNvPr id="10" name="Shape 8"/>
          <p:cNvSpPr/>
          <p:nvPr/>
        </p:nvSpPr>
        <p:spPr>
          <a:xfrm>
            <a:off x="548640" y="3383280"/>
            <a:ext cx="5394960" cy="914400"/>
          </a:xfrm>
          <a:prstGeom prst="roundRect">
            <a:avLst>
              <a:gd name="adj" fmla="val 8000"/>
            </a:avLst>
          </a:prstGeom>
          <a:solidFill>
            <a:srgbClr val="FFFFFF"/>
          </a:solidFill>
          <a:ln w="9525">
            <a:solidFill>
              <a:srgbClr val="E5E7EB"/>
            </a:solidFill>
            <a:prstDash val="solid"/>
          </a:ln>
        </p:spPr>
      </p:sp>
      <p:sp>
        <p:nvSpPr>
          <p:cNvPr id="11" name="Text 9"/>
          <p:cNvSpPr/>
          <p:nvPr/>
        </p:nvSpPr>
        <p:spPr>
          <a:xfrm>
            <a:off x="777240" y="3493008"/>
            <a:ext cx="548640" cy="694944"/>
          </a:xfrm>
          <a:prstGeom prst="rect">
            <a:avLst/>
          </a:prstGeom>
          <a:noFill/>
          <a:ln/>
        </p:spPr>
        <p:txBody>
          <a:bodyPr wrap="square" lIns="0" tIns="0" rIns="0" bIns="0" rtlCol="0" anchor="ctr"/>
          <a:lstStyle/>
          <a:p>
            <a:pPr indent="0" marL="0">
              <a:buNone/>
            </a:pPr>
            <a:r>
              <a:rPr lang="en-US" sz="3200" b="1" dirty="0">
                <a:solidFill>
                  <a:srgbClr val="4F46E5"/>
                </a:solidFill>
                <a:latin typeface="Consolas" pitchFamily="34" charset="0"/>
                <a:ea typeface="Consolas" pitchFamily="34" charset="-122"/>
                <a:cs typeface="Consolas" pitchFamily="34" charset="-120"/>
              </a:rPr>
              <a:t>2</a:t>
            </a:r>
            <a:endParaRPr lang="en-US" sz="3200" dirty="0"/>
          </a:p>
        </p:txBody>
      </p:sp>
      <p:sp>
        <p:nvSpPr>
          <p:cNvPr id="12" name="Text 10"/>
          <p:cNvSpPr/>
          <p:nvPr/>
        </p:nvSpPr>
        <p:spPr>
          <a:xfrm>
            <a:off x="1463040" y="3566160"/>
            <a:ext cx="4206240" cy="310896"/>
          </a:xfrm>
          <a:prstGeom prst="rect">
            <a:avLst/>
          </a:prstGeom>
          <a:noFill/>
          <a:ln/>
        </p:spPr>
        <p:txBody>
          <a:bodyPr wrap="square" lIns="0" tIns="0" rIns="0" bIns="0" rtlCol="0" anchor="ctr"/>
          <a:lstStyle/>
          <a:p>
            <a:pPr indent="0" marL="0">
              <a:buNone/>
            </a:pPr>
            <a:r>
              <a:rPr lang="en-US" sz="1550" b="1" dirty="0">
                <a:solidFill>
                  <a:srgbClr val="0A0A0A"/>
                </a:solidFill>
                <a:latin typeface="Calibri" pitchFamily="34" charset="0"/>
                <a:ea typeface="Calibri" pitchFamily="34" charset="-122"/>
                <a:cs typeface="Calibri" pitchFamily="34" charset="-120"/>
              </a:rPr>
              <a:t>Watch the behaviour</a:t>
            </a:r>
            <a:endParaRPr lang="en-US" sz="1550" dirty="0"/>
          </a:p>
        </p:txBody>
      </p:sp>
      <p:sp>
        <p:nvSpPr>
          <p:cNvPr id="13" name="Text 11"/>
          <p:cNvSpPr/>
          <p:nvPr/>
        </p:nvSpPr>
        <p:spPr>
          <a:xfrm>
            <a:off x="1463040" y="3886200"/>
            <a:ext cx="4297680" cy="329184"/>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Portal clicks, failed exports, slow pages. Days 3–4.</a:t>
            </a:r>
            <a:endParaRPr lang="en-US" sz="1150" dirty="0"/>
          </a:p>
        </p:txBody>
      </p:sp>
      <p:sp>
        <p:nvSpPr>
          <p:cNvPr id="14" name="Shape 12"/>
          <p:cNvSpPr/>
          <p:nvPr/>
        </p:nvSpPr>
        <p:spPr>
          <a:xfrm>
            <a:off x="548640" y="4434840"/>
            <a:ext cx="5394960" cy="914400"/>
          </a:xfrm>
          <a:prstGeom prst="roundRect">
            <a:avLst>
              <a:gd name="adj" fmla="val 8000"/>
            </a:avLst>
          </a:prstGeom>
          <a:solidFill>
            <a:srgbClr val="FFFFFF"/>
          </a:solidFill>
          <a:ln w="9525">
            <a:solidFill>
              <a:srgbClr val="E5E7EB"/>
            </a:solidFill>
            <a:prstDash val="solid"/>
          </a:ln>
        </p:spPr>
      </p:sp>
      <p:sp>
        <p:nvSpPr>
          <p:cNvPr id="15" name="Text 13"/>
          <p:cNvSpPr/>
          <p:nvPr/>
        </p:nvSpPr>
        <p:spPr>
          <a:xfrm>
            <a:off x="777240" y="4544568"/>
            <a:ext cx="548640" cy="694944"/>
          </a:xfrm>
          <a:prstGeom prst="rect">
            <a:avLst/>
          </a:prstGeom>
          <a:noFill/>
          <a:ln/>
        </p:spPr>
        <p:txBody>
          <a:bodyPr wrap="square" lIns="0" tIns="0" rIns="0" bIns="0" rtlCol="0" anchor="ctr"/>
          <a:lstStyle/>
          <a:p>
            <a:pPr indent="0" marL="0">
              <a:buNone/>
            </a:pPr>
            <a:r>
              <a:rPr lang="en-US" sz="3200" b="1" dirty="0">
                <a:solidFill>
                  <a:srgbClr val="4F46E5"/>
                </a:solidFill>
                <a:latin typeface="Consolas" pitchFamily="34" charset="0"/>
                <a:ea typeface="Consolas" pitchFamily="34" charset="-122"/>
                <a:cs typeface="Consolas" pitchFamily="34" charset="-120"/>
              </a:rPr>
              <a:t>3</a:t>
            </a:r>
            <a:endParaRPr lang="en-US" sz="3200" dirty="0"/>
          </a:p>
        </p:txBody>
      </p:sp>
      <p:sp>
        <p:nvSpPr>
          <p:cNvPr id="16" name="Text 14"/>
          <p:cNvSpPr/>
          <p:nvPr/>
        </p:nvSpPr>
        <p:spPr>
          <a:xfrm>
            <a:off x="1463040" y="4617720"/>
            <a:ext cx="4206240" cy="310896"/>
          </a:xfrm>
          <a:prstGeom prst="rect">
            <a:avLst/>
          </a:prstGeom>
          <a:noFill/>
          <a:ln/>
        </p:spPr>
        <p:txBody>
          <a:bodyPr wrap="square" lIns="0" tIns="0" rIns="0" bIns="0" rtlCol="0" anchor="ctr"/>
          <a:lstStyle/>
          <a:p>
            <a:pPr indent="0" marL="0">
              <a:buNone/>
            </a:pPr>
            <a:r>
              <a:rPr lang="en-US" sz="1550" b="1" dirty="0">
                <a:solidFill>
                  <a:srgbClr val="0A0A0A"/>
                </a:solidFill>
                <a:latin typeface="Calibri" pitchFamily="34" charset="0"/>
                <a:ea typeface="Calibri" pitchFamily="34" charset="-122"/>
                <a:cs typeface="Calibri" pitchFamily="34" charset="-120"/>
              </a:rPr>
              <a:t>Ask the merchants</a:t>
            </a:r>
            <a:endParaRPr lang="en-US" sz="1550" dirty="0"/>
          </a:p>
        </p:txBody>
      </p:sp>
      <p:sp>
        <p:nvSpPr>
          <p:cNvPr id="17" name="Text 15"/>
          <p:cNvSpPr/>
          <p:nvPr/>
        </p:nvSpPr>
        <p:spPr>
          <a:xfrm>
            <a:off x="1463040" y="4937760"/>
            <a:ext cx="4297680" cy="329184"/>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Short calls with those who left and nearly left. Day 5.</a:t>
            </a:r>
            <a:endParaRPr lang="en-US" sz="1150" dirty="0"/>
          </a:p>
        </p:txBody>
      </p:sp>
      <p:sp>
        <p:nvSpPr>
          <p:cNvPr id="18" name="Text 16"/>
          <p:cNvSpPr/>
          <p:nvPr/>
        </p:nvSpPr>
        <p:spPr>
          <a:xfrm>
            <a:off x="6172200" y="1874520"/>
            <a:ext cx="5532120" cy="274320"/>
          </a:xfrm>
          <a:prstGeom prst="rect">
            <a:avLst/>
          </a:prstGeom>
          <a:noFill/>
          <a:ln/>
        </p:spPr>
        <p:txBody>
          <a:bodyPr wrap="square" lIns="0" tIns="0" rIns="0" bIns="0" rtlCol="0" anchor="ctr"/>
          <a:lstStyle/>
          <a:p>
            <a:pPr indent="0" marL="0">
              <a:buNone/>
            </a:pPr>
            <a:r>
              <a:rPr lang="en-US" sz="1100" b="1" dirty="0">
                <a:solidFill>
                  <a:srgbClr val="4F46E5"/>
                </a:solidFill>
                <a:latin typeface="Calibri" pitchFamily="34" charset="0"/>
                <a:ea typeface="Calibri" pitchFamily="34" charset="-122"/>
                <a:cs typeface="Calibri" pitchFamily="34" charset="-120"/>
              </a:rPr>
              <a:t>NEXT SPRINT    </a:t>
            </a:r>
            <a:pPr indent="0" marL="0">
              <a:buNone/>
            </a:pPr>
            <a:r>
              <a:rPr lang="en-US" sz="1400" b="1" dirty="0">
                <a:solidFill>
                  <a:srgbClr val="0A0A0A"/>
                </a:solidFill>
                <a:latin typeface="Calibri" pitchFamily="34" charset="0"/>
                <a:ea typeface="Calibri" pitchFamily="34" charset="-122"/>
                <a:cs typeface="Calibri" pitchFamily="34" charset="-120"/>
              </a:rPr>
              <a:t>Test every fee change safely</a:t>
            </a:r>
            <a:endParaRPr lang="en-US" sz="1100" dirty="0"/>
          </a:p>
        </p:txBody>
      </p:sp>
      <p:sp>
        <p:nvSpPr>
          <p:cNvPr id="19" name="Text 17"/>
          <p:cNvSpPr/>
          <p:nvPr/>
        </p:nvSpPr>
        <p:spPr>
          <a:xfrm>
            <a:off x="6172200" y="2331720"/>
            <a:ext cx="2377440" cy="274320"/>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CHECK</a:t>
            </a:r>
            <a:endParaRPr lang="en-US" sz="1000" dirty="0"/>
          </a:p>
        </p:txBody>
      </p:sp>
      <p:sp>
        <p:nvSpPr>
          <p:cNvPr id="20" name="Text 18"/>
          <p:cNvSpPr/>
          <p:nvPr/>
        </p:nvSpPr>
        <p:spPr>
          <a:xfrm>
            <a:off x="8549640" y="2331720"/>
            <a:ext cx="1737360" cy="274320"/>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MUST BE</a:t>
            </a:r>
            <a:endParaRPr lang="en-US" sz="1000" dirty="0"/>
          </a:p>
        </p:txBody>
      </p:sp>
      <p:sp>
        <p:nvSpPr>
          <p:cNvPr id="21" name="Text 19"/>
          <p:cNvSpPr/>
          <p:nvPr/>
        </p:nvSpPr>
        <p:spPr>
          <a:xfrm>
            <a:off x="10287000" y="2331720"/>
            <a:ext cx="1417320" cy="274320"/>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IF IT FAILS</a:t>
            </a:r>
            <a:endParaRPr lang="en-US" sz="1000" dirty="0"/>
          </a:p>
        </p:txBody>
      </p:sp>
      <p:sp>
        <p:nvSpPr>
          <p:cNvPr id="22" name="Shape 20"/>
          <p:cNvSpPr/>
          <p:nvPr/>
        </p:nvSpPr>
        <p:spPr>
          <a:xfrm>
            <a:off x="6172200" y="2624328"/>
            <a:ext cx="5532120" cy="0"/>
          </a:xfrm>
          <a:prstGeom prst="line">
            <a:avLst/>
          </a:prstGeom>
          <a:noFill/>
          <a:ln w="12700">
            <a:solidFill>
              <a:srgbClr val="0A0A0A"/>
            </a:solidFill>
            <a:prstDash val="solid"/>
          </a:ln>
        </p:spPr>
      </p:sp>
      <p:sp>
        <p:nvSpPr>
          <p:cNvPr id="23" name="Text 21"/>
          <p:cNvSpPr/>
          <p:nvPr/>
        </p:nvSpPr>
        <p:spPr>
          <a:xfrm>
            <a:off x="6172200" y="2715768"/>
            <a:ext cx="2377440" cy="566928"/>
          </a:xfrm>
          <a:prstGeom prst="rect">
            <a:avLst/>
          </a:prstGeom>
          <a:noFill/>
          <a:ln/>
        </p:spPr>
        <p:txBody>
          <a:bodyPr wrap="square" lIns="0" tIns="0" rIns="0" bIns="0" rtlCol="0" anchor="ctr"/>
          <a:lstStyle/>
          <a:p>
            <a:pPr indent="0" marL="0">
              <a:buNone/>
            </a:pPr>
            <a:r>
              <a:rPr lang="en-US" sz="1250" b="1" dirty="0">
                <a:solidFill>
                  <a:srgbClr val="0A0A0A"/>
                </a:solidFill>
                <a:latin typeface="Calibri" pitchFamily="34" charset="0"/>
                <a:ea typeface="Calibri" pitchFamily="34" charset="-122"/>
                <a:cs typeface="Calibri" pitchFamily="34" charset="-120"/>
              </a:rPr>
              <a:t>Fee accuracy</a:t>
            </a:r>
            <a:endParaRPr lang="en-US" sz="1250" dirty="0"/>
          </a:p>
        </p:txBody>
      </p:sp>
      <p:sp>
        <p:nvSpPr>
          <p:cNvPr id="24" name="Text 22"/>
          <p:cNvSpPr/>
          <p:nvPr/>
        </p:nvSpPr>
        <p:spPr>
          <a:xfrm>
            <a:off x="8549640" y="2715768"/>
            <a:ext cx="1737360" cy="566928"/>
          </a:xfrm>
          <a:prstGeom prst="rect">
            <a:avLst/>
          </a:prstGeom>
          <a:noFill/>
          <a:ln/>
        </p:spPr>
        <p:txBody>
          <a:bodyPr wrap="square" lIns="0" tIns="0" rIns="0" bIns="0" rtlCol="0" anchor="ctr"/>
          <a:lstStyle/>
          <a:p>
            <a:pPr indent="0" marL="0">
              <a:buNone/>
            </a:pPr>
            <a:r>
              <a:rPr lang="en-US" sz="1200" b="1" dirty="0">
                <a:solidFill>
                  <a:srgbClr val="DC2626"/>
                </a:solidFill>
                <a:latin typeface="Consolas" pitchFamily="34" charset="0"/>
                <a:ea typeface="Consolas" pitchFamily="34" charset="-122"/>
                <a:cs typeface="Consolas" pitchFamily="34" charset="-120"/>
              </a:rPr>
              <a:t>within 0.15%</a:t>
            </a:r>
            <a:endParaRPr lang="en-US" sz="1200" dirty="0"/>
          </a:p>
        </p:txBody>
      </p:sp>
      <p:sp>
        <p:nvSpPr>
          <p:cNvPr id="25" name="Text 23"/>
          <p:cNvSpPr/>
          <p:nvPr/>
        </p:nvSpPr>
        <p:spPr>
          <a:xfrm>
            <a:off x="10287000" y="2715768"/>
            <a:ext cx="1417320" cy="566928"/>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pull it</a:t>
            </a:r>
            <a:endParaRPr lang="en-US" sz="1150" dirty="0"/>
          </a:p>
        </p:txBody>
      </p:sp>
      <p:sp>
        <p:nvSpPr>
          <p:cNvPr id="26" name="Shape 24"/>
          <p:cNvSpPr/>
          <p:nvPr/>
        </p:nvSpPr>
        <p:spPr>
          <a:xfrm>
            <a:off x="6172200" y="3282696"/>
            <a:ext cx="5532120" cy="0"/>
          </a:xfrm>
          <a:prstGeom prst="line">
            <a:avLst/>
          </a:prstGeom>
          <a:noFill/>
          <a:ln w="6350">
            <a:solidFill>
              <a:srgbClr val="F3F4F6"/>
            </a:solidFill>
            <a:prstDash val="solid"/>
          </a:ln>
        </p:spPr>
      </p:sp>
      <p:sp>
        <p:nvSpPr>
          <p:cNvPr id="27" name="Text 25"/>
          <p:cNvSpPr/>
          <p:nvPr/>
        </p:nvSpPr>
        <p:spPr>
          <a:xfrm>
            <a:off x="6172200" y="3282696"/>
            <a:ext cx="2377440" cy="566928"/>
          </a:xfrm>
          <a:prstGeom prst="rect">
            <a:avLst/>
          </a:prstGeom>
          <a:noFill/>
          <a:ln/>
        </p:spPr>
        <p:txBody>
          <a:bodyPr wrap="square" lIns="0" tIns="0" rIns="0" bIns="0" rtlCol="0" anchor="ctr"/>
          <a:lstStyle/>
          <a:p>
            <a:pPr indent="0" marL="0">
              <a:buNone/>
            </a:pPr>
            <a:r>
              <a:rPr lang="en-US" sz="1250" b="1" dirty="0">
                <a:solidFill>
                  <a:srgbClr val="0A0A0A"/>
                </a:solidFill>
                <a:latin typeface="Calibri" pitchFamily="34" charset="0"/>
                <a:ea typeface="Calibri" pitchFamily="34" charset="-122"/>
                <a:cs typeface="Calibri" pitchFamily="34" charset="-120"/>
              </a:rPr>
              <a:t>Exports work</a:t>
            </a:r>
            <a:endParaRPr lang="en-US" sz="1250" dirty="0"/>
          </a:p>
        </p:txBody>
      </p:sp>
      <p:sp>
        <p:nvSpPr>
          <p:cNvPr id="28" name="Text 26"/>
          <p:cNvSpPr/>
          <p:nvPr/>
        </p:nvSpPr>
        <p:spPr>
          <a:xfrm>
            <a:off x="8549640" y="3282696"/>
            <a:ext cx="1737360" cy="566928"/>
          </a:xfrm>
          <a:prstGeom prst="rect">
            <a:avLst/>
          </a:prstGeom>
          <a:noFill/>
          <a:ln/>
        </p:spPr>
        <p:txBody>
          <a:bodyPr wrap="square" lIns="0" tIns="0" rIns="0" bIns="0" rtlCol="0" anchor="ctr"/>
          <a:lstStyle/>
          <a:p>
            <a:pPr indent="0" marL="0">
              <a:buNone/>
            </a:pPr>
            <a:r>
              <a:rPr lang="en-US" sz="1200" b="1" dirty="0">
                <a:solidFill>
                  <a:srgbClr val="DC2626"/>
                </a:solidFill>
                <a:latin typeface="Consolas" pitchFamily="34" charset="0"/>
                <a:ea typeface="Consolas" pitchFamily="34" charset="-122"/>
                <a:cs typeface="Consolas" pitchFamily="34" charset="-120"/>
              </a:rPr>
              <a:t>99.5%+</a:t>
            </a:r>
            <a:endParaRPr lang="en-US" sz="1200" dirty="0"/>
          </a:p>
        </p:txBody>
      </p:sp>
      <p:sp>
        <p:nvSpPr>
          <p:cNvPr id="29" name="Text 27"/>
          <p:cNvSpPr/>
          <p:nvPr/>
        </p:nvSpPr>
        <p:spPr>
          <a:xfrm>
            <a:off x="10287000" y="3282696"/>
            <a:ext cx="1417320" cy="566928"/>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pull + alert</a:t>
            </a:r>
            <a:endParaRPr lang="en-US" sz="1150" dirty="0"/>
          </a:p>
        </p:txBody>
      </p:sp>
      <p:sp>
        <p:nvSpPr>
          <p:cNvPr id="30" name="Shape 28"/>
          <p:cNvSpPr/>
          <p:nvPr/>
        </p:nvSpPr>
        <p:spPr>
          <a:xfrm>
            <a:off x="6172200" y="3849624"/>
            <a:ext cx="5532120" cy="0"/>
          </a:xfrm>
          <a:prstGeom prst="line">
            <a:avLst/>
          </a:prstGeom>
          <a:noFill/>
          <a:ln w="6350">
            <a:solidFill>
              <a:srgbClr val="F3F4F6"/>
            </a:solidFill>
            <a:prstDash val="solid"/>
          </a:ln>
        </p:spPr>
      </p:sp>
      <p:sp>
        <p:nvSpPr>
          <p:cNvPr id="31" name="Text 29"/>
          <p:cNvSpPr/>
          <p:nvPr/>
        </p:nvSpPr>
        <p:spPr>
          <a:xfrm>
            <a:off x="6172200" y="3849624"/>
            <a:ext cx="2377440" cy="566928"/>
          </a:xfrm>
          <a:prstGeom prst="rect">
            <a:avLst/>
          </a:prstGeom>
          <a:noFill/>
          <a:ln/>
        </p:spPr>
        <p:txBody>
          <a:bodyPr wrap="square" lIns="0" tIns="0" rIns="0" bIns="0" rtlCol="0" anchor="ctr"/>
          <a:lstStyle/>
          <a:p>
            <a:pPr indent="0" marL="0">
              <a:buNone/>
            </a:pPr>
            <a:r>
              <a:rPr lang="en-US" sz="1250" b="1" dirty="0">
                <a:solidFill>
                  <a:srgbClr val="0A0A0A"/>
                </a:solidFill>
                <a:latin typeface="Calibri" pitchFamily="34" charset="0"/>
                <a:ea typeface="Calibri" pitchFamily="34" charset="-122"/>
                <a:cs typeface="Calibri" pitchFamily="34" charset="-120"/>
              </a:rPr>
              <a:t>Screen speed</a:t>
            </a:r>
            <a:endParaRPr lang="en-US" sz="1250" dirty="0"/>
          </a:p>
        </p:txBody>
      </p:sp>
      <p:sp>
        <p:nvSpPr>
          <p:cNvPr id="32" name="Text 30"/>
          <p:cNvSpPr/>
          <p:nvPr/>
        </p:nvSpPr>
        <p:spPr>
          <a:xfrm>
            <a:off x="8549640" y="3849624"/>
            <a:ext cx="1737360" cy="566928"/>
          </a:xfrm>
          <a:prstGeom prst="rect">
            <a:avLst/>
          </a:prstGeom>
          <a:noFill/>
          <a:ln/>
        </p:spPr>
        <p:txBody>
          <a:bodyPr wrap="square" lIns="0" tIns="0" rIns="0" bIns="0" rtlCol="0" anchor="ctr"/>
          <a:lstStyle/>
          <a:p>
            <a:pPr indent="0" marL="0">
              <a:buNone/>
            </a:pPr>
            <a:r>
              <a:rPr lang="en-US" sz="1200" b="1" dirty="0">
                <a:solidFill>
                  <a:srgbClr val="D97706"/>
                </a:solidFill>
                <a:latin typeface="Consolas" pitchFamily="34" charset="0"/>
                <a:ea typeface="Consolas" pitchFamily="34" charset="-122"/>
                <a:cs typeface="Consolas" pitchFamily="34" charset="-120"/>
              </a:rPr>
              <a:t>under 0.9s</a:t>
            </a:r>
            <a:endParaRPr lang="en-US" sz="1200" dirty="0"/>
          </a:p>
        </p:txBody>
      </p:sp>
      <p:sp>
        <p:nvSpPr>
          <p:cNvPr id="33" name="Text 31"/>
          <p:cNvSpPr/>
          <p:nvPr/>
        </p:nvSpPr>
        <p:spPr>
          <a:xfrm>
            <a:off x="10287000" y="3849624"/>
            <a:ext cx="1417320" cy="566928"/>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pull if it lasts</a:t>
            </a:r>
            <a:endParaRPr lang="en-US" sz="1150" dirty="0"/>
          </a:p>
        </p:txBody>
      </p:sp>
      <p:sp>
        <p:nvSpPr>
          <p:cNvPr id="34" name="Shape 32"/>
          <p:cNvSpPr/>
          <p:nvPr/>
        </p:nvSpPr>
        <p:spPr>
          <a:xfrm>
            <a:off x="6172200" y="4416552"/>
            <a:ext cx="5532120" cy="0"/>
          </a:xfrm>
          <a:prstGeom prst="line">
            <a:avLst/>
          </a:prstGeom>
          <a:noFill/>
          <a:ln w="6350">
            <a:solidFill>
              <a:srgbClr val="F3F4F6"/>
            </a:solidFill>
            <a:prstDash val="solid"/>
          </a:ln>
        </p:spPr>
      </p:sp>
      <p:sp>
        <p:nvSpPr>
          <p:cNvPr id="35" name="Text 33"/>
          <p:cNvSpPr/>
          <p:nvPr/>
        </p:nvSpPr>
        <p:spPr>
          <a:xfrm>
            <a:off x="6172200" y="4416552"/>
            <a:ext cx="2377440" cy="566928"/>
          </a:xfrm>
          <a:prstGeom prst="rect">
            <a:avLst/>
          </a:prstGeom>
          <a:noFill/>
          <a:ln/>
        </p:spPr>
        <p:txBody>
          <a:bodyPr wrap="square" lIns="0" tIns="0" rIns="0" bIns="0" rtlCol="0" anchor="ctr"/>
          <a:lstStyle/>
          <a:p>
            <a:pPr indent="0" marL="0">
              <a:buNone/>
            </a:pPr>
            <a:r>
              <a:rPr lang="en-US" sz="1250" b="1" dirty="0">
                <a:solidFill>
                  <a:srgbClr val="0A0A0A"/>
                </a:solidFill>
                <a:latin typeface="Calibri" pitchFamily="34" charset="0"/>
                <a:ea typeface="Calibri" pitchFamily="34" charset="-122"/>
                <a:cs typeface="Calibri" pitchFamily="34" charset="-120"/>
              </a:rPr>
              <a:t>Merchant mood</a:t>
            </a:r>
            <a:endParaRPr lang="en-US" sz="1250" dirty="0"/>
          </a:p>
        </p:txBody>
      </p:sp>
      <p:sp>
        <p:nvSpPr>
          <p:cNvPr id="36" name="Text 34"/>
          <p:cNvSpPr/>
          <p:nvPr/>
        </p:nvSpPr>
        <p:spPr>
          <a:xfrm>
            <a:off x="8549640" y="4416552"/>
            <a:ext cx="1737360" cy="566928"/>
          </a:xfrm>
          <a:prstGeom prst="rect">
            <a:avLst/>
          </a:prstGeom>
          <a:noFill/>
          <a:ln/>
        </p:spPr>
        <p:txBody>
          <a:bodyPr wrap="square" lIns="0" tIns="0" rIns="0" bIns="0" rtlCol="0" anchor="ctr"/>
          <a:lstStyle/>
          <a:p>
            <a:pPr indent="0" marL="0">
              <a:buNone/>
            </a:pPr>
            <a:r>
              <a:rPr lang="en-US" sz="1200" b="1" dirty="0">
                <a:solidFill>
                  <a:srgbClr val="4F46E5"/>
                </a:solidFill>
                <a:latin typeface="Consolas" pitchFamily="34" charset="0"/>
                <a:ea typeface="Consolas" pitchFamily="34" charset="-122"/>
                <a:cs typeface="Consolas" pitchFamily="34" charset="-120"/>
              </a:rPr>
              <a:t>no worse</a:t>
            </a:r>
            <a:endParaRPr lang="en-US" sz="1200" dirty="0"/>
          </a:p>
        </p:txBody>
      </p:sp>
      <p:sp>
        <p:nvSpPr>
          <p:cNvPr id="37" name="Text 35"/>
          <p:cNvSpPr/>
          <p:nvPr/>
        </p:nvSpPr>
        <p:spPr>
          <a:xfrm>
            <a:off x="10287000" y="4416552"/>
            <a:ext cx="1417320" cy="566928"/>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hold + review</a:t>
            </a:r>
            <a:endParaRPr lang="en-US" sz="1150" dirty="0"/>
          </a:p>
        </p:txBody>
      </p:sp>
      <p:sp>
        <p:nvSpPr>
          <p:cNvPr id="38" name="Shape 36"/>
          <p:cNvSpPr/>
          <p:nvPr/>
        </p:nvSpPr>
        <p:spPr>
          <a:xfrm>
            <a:off x="548640" y="5943600"/>
            <a:ext cx="11094415" cy="457200"/>
          </a:xfrm>
          <a:prstGeom prst="roundRect">
            <a:avLst>
              <a:gd name="adj" fmla="val 12000"/>
            </a:avLst>
          </a:prstGeom>
          <a:solidFill>
            <a:srgbClr val="EEF2FF"/>
          </a:solidFill>
          <a:ln w="12700">
            <a:solidFill>
              <a:srgbClr val="EEF2FF"/>
            </a:solidFill>
            <a:prstDash val="solid"/>
          </a:ln>
        </p:spPr>
      </p:sp>
      <p:sp>
        <p:nvSpPr>
          <p:cNvPr id="39" name="Shape 37"/>
          <p:cNvSpPr/>
          <p:nvPr/>
        </p:nvSpPr>
        <p:spPr>
          <a:xfrm>
            <a:off x="548640" y="5943600"/>
            <a:ext cx="64008" cy="457200"/>
          </a:xfrm>
          <a:prstGeom prst="rect">
            <a:avLst/>
          </a:prstGeom>
          <a:solidFill>
            <a:srgbClr val="4F46E5"/>
          </a:solidFill>
          <a:ln w="12700">
            <a:solidFill>
              <a:srgbClr val="4F46E5"/>
            </a:solidFill>
            <a:prstDash val="solid"/>
          </a:ln>
        </p:spPr>
      </p:sp>
      <p:sp>
        <p:nvSpPr>
          <p:cNvPr id="40" name="Text 38"/>
          <p:cNvSpPr/>
          <p:nvPr/>
        </p:nvSpPr>
        <p:spPr>
          <a:xfrm>
            <a:off x="731520" y="5943600"/>
            <a:ext cx="10820095" cy="457200"/>
          </a:xfrm>
          <a:prstGeom prst="rect">
            <a:avLst/>
          </a:prstGeom>
          <a:noFill/>
          <a:ln/>
        </p:spPr>
        <p:txBody>
          <a:bodyPr wrap="square" lIns="0" tIns="0" rIns="0" bIns="0" rtlCol="0" anchor="ctr"/>
          <a:lstStyle/>
          <a:p>
            <a:pPr indent="0" marL="0">
              <a:buNone/>
            </a:pPr>
            <a:r>
              <a:rPr lang="en-US" sz="1000" b="1" dirty="0">
                <a:solidFill>
                  <a:srgbClr val="4F46E5"/>
                </a:solidFill>
                <a:latin typeface="Calibri" pitchFamily="34" charset="0"/>
                <a:ea typeface="Calibri" pitchFamily="34" charset="-122"/>
                <a:cs typeface="Calibri" pitchFamily="34" charset="-120"/>
              </a:rPr>
              <a:t>CHEAP TEST FIRST    </a:t>
            </a:r>
            <a:pPr indent="0" marL="0">
              <a:buNone/>
            </a:pPr>
            <a:r>
              <a:rPr lang="en-US" sz="1200" dirty="0">
                <a:solidFill>
                  <a:srgbClr val="0A0A0A"/>
                </a:solidFill>
                <a:latin typeface="Calibri" pitchFamily="34" charset="0"/>
                <a:ea typeface="Calibri" pitchFamily="34" charset="-122"/>
                <a:cs typeface="Calibri" pitchFamily="34" charset="-120"/>
              </a:rPr>
              <a:t>Hand-send the top 20 merchants a spreadsheet for two weeks before rebuilding anything. Saves a quarter of engineering.</a:t>
            </a:r>
            <a:endParaRPr lang="en-US" sz="1000" dirty="0"/>
          </a:p>
        </p:txBody>
      </p:sp>
      <p:sp>
        <p:nvSpPr>
          <p:cNvPr id="41" name="Shape 39"/>
          <p:cNvSpPr/>
          <p:nvPr/>
        </p:nvSpPr>
        <p:spPr>
          <a:xfrm>
            <a:off x="548640" y="6400800"/>
            <a:ext cx="11094415" cy="0"/>
          </a:xfrm>
          <a:prstGeom prst="line">
            <a:avLst/>
          </a:prstGeom>
          <a:noFill/>
          <a:ln w="6350">
            <a:solidFill>
              <a:srgbClr val="E5E7EB"/>
            </a:solidFill>
            <a:prstDash val="solid"/>
          </a:ln>
        </p:spPr>
      </p:sp>
      <p:sp>
        <p:nvSpPr>
          <p:cNvPr id="42" name="Text 40"/>
          <p:cNvSpPr/>
          <p:nvPr/>
        </p:nvSpPr>
        <p:spPr>
          <a:xfrm>
            <a:off x="548640" y="6528816"/>
            <a:ext cx="10454335" cy="237744"/>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Moses Bargue Kortu Jr.</a:t>
            </a:r>
            <a:pPr indent="0" marL="0">
              <a:buNone/>
            </a:pPr>
            <a:r>
              <a:rPr lang="en-US" sz="900" dirty="0">
                <a:solidFill>
                  <a:srgbClr val="9CA3AF"/>
                </a:solidFill>
                <a:latin typeface="Calibri" pitchFamily="34" charset="0"/>
                <a:ea typeface="Calibri" pitchFamily="34" charset="-122"/>
                <a:cs typeface="Calibri" pitchFamily="34" charset="-120"/>
              </a:rPr>
              <a:t>    ·    TPO case  ·  August 2026</a:t>
            </a:r>
            <a:endParaRPr lang="en-US" sz="900" dirty="0"/>
          </a:p>
        </p:txBody>
      </p:sp>
      <p:sp>
        <p:nvSpPr>
          <p:cNvPr id="43" name="Text 41"/>
          <p:cNvSpPr/>
          <p:nvPr/>
        </p:nvSpPr>
        <p:spPr>
          <a:xfrm>
            <a:off x="11002975" y="6528816"/>
            <a:ext cx="457200" cy="237744"/>
          </a:xfrm>
          <a:prstGeom prst="rect">
            <a:avLst/>
          </a:prstGeom>
          <a:noFill/>
          <a:ln/>
        </p:spPr>
        <p:txBody>
          <a:bodyPr wrap="square" lIns="0" tIns="0" rIns="0" bIns="0" rtlCol="0" anchor="ctr"/>
          <a:lstStyle/>
          <a:p>
            <a:pPr algn="r" indent="0" marL="0">
              <a:buNone/>
            </a:pPr>
            <a:r>
              <a:rPr lang="en-US" sz="1000" dirty="0">
                <a:solidFill>
                  <a:srgbClr val="9CA3AF"/>
                </a:solidFill>
                <a:latin typeface="Consolas" pitchFamily="34" charset="0"/>
                <a:ea typeface="Consolas" pitchFamily="34" charset="-122"/>
                <a:cs typeface="Consola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92608"/>
          </a:xfrm>
          <a:prstGeom prst="rect">
            <a:avLst/>
          </a:prstGeom>
          <a:noFill/>
          <a:ln/>
        </p:spPr>
        <p:txBody>
          <a:bodyPr wrap="square" lIns="0" tIns="0" rIns="0" bIns="0" rtlCol="0" anchor="ctr"/>
          <a:lstStyle/>
          <a:p>
            <a:pPr indent="0" marL="0">
              <a:buNone/>
            </a:pPr>
            <a:r>
              <a:rPr lang="en-US" sz="1200" b="1" dirty="0">
                <a:solidFill>
                  <a:srgbClr val="4F46E5"/>
                </a:solidFill>
                <a:latin typeface="Calibri" pitchFamily="34" charset="0"/>
                <a:ea typeface="Calibri" pitchFamily="34" charset="-122"/>
                <a:cs typeface="Calibri" pitchFamily="34" charset="-120"/>
              </a:rPr>
              <a:t>FERO</a:t>
            </a:r>
            <a:pPr indent="0" marL="0">
              <a:buNone/>
            </a:pPr>
            <a:r>
              <a:rPr lang="en-US" sz="1100" b="1" dirty="0">
                <a:solidFill>
                  <a:srgbClr val="6B7280"/>
                </a:solidFill>
                <a:latin typeface="Calibri" pitchFamily="34" charset="0"/>
                <a:ea typeface="Calibri" pitchFamily="34" charset="-122"/>
                <a:cs typeface="Calibri" pitchFamily="34" charset="-120"/>
              </a:rPr>
              <a:t>    03 · Problem 2 · The plugin that keeps breaking</a:t>
            </a:r>
            <a:endParaRPr lang="en-US" sz="1200" dirty="0"/>
          </a:p>
        </p:txBody>
      </p:sp>
      <p:sp>
        <p:nvSpPr>
          <p:cNvPr id="3" name="Text 1"/>
          <p:cNvSpPr/>
          <p:nvPr/>
        </p:nvSpPr>
        <p:spPr>
          <a:xfrm>
            <a:off x="548640" y="749808"/>
            <a:ext cx="11094415" cy="502920"/>
          </a:xfrm>
          <a:prstGeom prst="rect">
            <a:avLst/>
          </a:prstGeom>
          <a:noFill/>
          <a:ln/>
        </p:spPr>
        <p:txBody>
          <a:bodyPr wrap="square" lIns="0" tIns="0" rIns="0" bIns="0" rtlCol="0" anchor="ctr"/>
          <a:lstStyle/>
          <a:p>
            <a:pPr indent="0" marL="0">
              <a:buNone/>
            </a:pPr>
            <a:r>
              <a:rPr lang="en-US" sz="2700" b="1" dirty="0">
                <a:solidFill>
                  <a:srgbClr val="0A0A0A"/>
                </a:solidFill>
                <a:latin typeface="Calibri" pitchFamily="34" charset="0"/>
                <a:ea typeface="Calibri" pitchFamily="34" charset="-122"/>
                <a:cs typeface="Calibri" pitchFamily="34" charset="-120"/>
              </a:rPr>
              <a:t>The plugin that keeps breaking.</a:t>
            </a:r>
            <a:endParaRPr lang="en-US" sz="2700" dirty="0"/>
          </a:p>
        </p:txBody>
      </p:sp>
      <p:sp>
        <p:nvSpPr>
          <p:cNvPr id="4" name="Text 2"/>
          <p:cNvSpPr/>
          <p:nvPr/>
        </p:nvSpPr>
        <p:spPr>
          <a:xfrm>
            <a:off x="548640" y="1280160"/>
            <a:ext cx="11094415" cy="347472"/>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Don't ask which file is broken. Let the data point at it.</a:t>
            </a:r>
            <a:endParaRPr lang="en-US" sz="1450" dirty="0"/>
          </a:p>
        </p:txBody>
      </p:sp>
      <p:sp>
        <p:nvSpPr>
          <p:cNvPr id="5" name="Shape 3"/>
          <p:cNvSpPr/>
          <p:nvPr/>
        </p:nvSpPr>
        <p:spPr>
          <a:xfrm>
            <a:off x="548640" y="1828800"/>
            <a:ext cx="2705024" cy="960120"/>
          </a:xfrm>
          <a:prstGeom prst="roundRect">
            <a:avLst>
              <a:gd name="adj" fmla="val 7619"/>
            </a:avLst>
          </a:prstGeom>
          <a:solidFill>
            <a:srgbClr val="FFFFFF"/>
          </a:solidFill>
          <a:ln w="9525">
            <a:solidFill>
              <a:srgbClr val="E5E7EB"/>
            </a:solidFill>
            <a:prstDash val="solid"/>
          </a:ln>
        </p:spPr>
      </p:sp>
      <p:sp>
        <p:nvSpPr>
          <p:cNvPr id="6" name="Text 4"/>
          <p:cNvSpPr/>
          <p:nvPr/>
        </p:nvSpPr>
        <p:spPr>
          <a:xfrm>
            <a:off x="731520" y="1975104"/>
            <a:ext cx="2430704" cy="219456"/>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NEW MERCHANTS STUCK</a:t>
            </a:r>
            <a:endParaRPr lang="en-US" sz="950" dirty="0"/>
          </a:p>
        </p:txBody>
      </p:sp>
      <p:sp>
        <p:nvSpPr>
          <p:cNvPr id="7" name="Text 5"/>
          <p:cNvSpPr/>
          <p:nvPr/>
        </p:nvSpPr>
        <p:spPr>
          <a:xfrm>
            <a:off x="731520" y="2194560"/>
            <a:ext cx="2430704" cy="411480"/>
          </a:xfrm>
          <a:prstGeom prst="rect">
            <a:avLst/>
          </a:prstGeom>
          <a:noFill/>
          <a:ln/>
        </p:spPr>
        <p:txBody>
          <a:bodyPr wrap="square" lIns="0" tIns="0" rIns="0" bIns="0" rtlCol="0" anchor="ctr"/>
          <a:lstStyle/>
          <a:p>
            <a:pPr indent="0" marL="0">
              <a:buNone/>
            </a:pPr>
            <a:r>
              <a:rPr lang="en-US" sz="2800" b="1" dirty="0">
                <a:solidFill>
                  <a:srgbClr val="0A0A0A"/>
                </a:solidFill>
                <a:latin typeface="Consolas" pitchFamily="34" charset="0"/>
                <a:ea typeface="Consolas" pitchFamily="34" charset="-122"/>
                <a:cs typeface="Consolas" pitchFamily="34" charset="-120"/>
              </a:rPr>
              <a:t>27%</a:t>
            </a:r>
            <a:endParaRPr lang="en-US" sz="2800" dirty="0"/>
          </a:p>
        </p:txBody>
      </p:sp>
      <p:sp>
        <p:nvSpPr>
          <p:cNvPr id="8" name="Text 6"/>
          <p:cNvSpPr/>
          <p:nvPr/>
        </p:nvSpPr>
        <p:spPr>
          <a:xfrm>
            <a:off x="731520" y="2578608"/>
            <a:ext cx="2430704" cy="182880"/>
          </a:xfrm>
          <a:prstGeom prst="rect">
            <a:avLst/>
          </a:prstGeom>
          <a:noFill/>
          <a:ln/>
        </p:spPr>
        <p:txBody>
          <a:bodyPr wrap="square" lIns="0" tIns="0" rIns="0" bIns="0" rtlCol="0" anchor="ctr"/>
          <a:lstStyle/>
          <a:p>
            <a:pPr indent="0" marL="0">
              <a:buNone/>
            </a:pPr>
            <a:r>
              <a:rPr lang="en-US" sz="1050" b="1" dirty="0">
                <a:solidFill>
                  <a:srgbClr val="DC2626"/>
                </a:solidFill>
                <a:latin typeface="Calibri" pitchFamily="34" charset="0"/>
                <a:ea typeface="Calibri" pitchFamily="34" charset="-122"/>
                <a:cs typeface="Calibri" pitchFamily="34" charset="-120"/>
              </a:rPr>
              <a:t>give up during setup</a:t>
            </a:r>
            <a:endParaRPr lang="en-US" sz="1050" dirty="0"/>
          </a:p>
        </p:txBody>
      </p:sp>
      <p:sp>
        <p:nvSpPr>
          <p:cNvPr id="9" name="Shape 7"/>
          <p:cNvSpPr/>
          <p:nvPr/>
        </p:nvSpPr>
        <p:spPr>
          <a:xfrm>
            <a:off x="3345104" y="1828800"/>
            <a:ext cx="2705024" cy="960120"/>
          </a:xfrm>
          <a:prstGeom prst="roundRect">
            <a:avLst>
              <a:gd name="adj" fmla="val 7619"/>
            </a:avLst>
          </a:prstGeom>
          <a:solidFill>
            <a:srgbClr val="FFFFFF"/>
          </a:solidFill>
          <a:ln w="9525">
            <a:solidFill>
              <a:srgbClr val="E5E7EB"/>
            </a:solidFill>
            <a:prstDash val="solid"/>
          </a:ln>
        </p:spPr>
      </p:sp>
      <p:sp>
        <p:nvSpPr>
          <p:cNvPr id="10" name="Text 8"/>
          <p:cNvSpPr/>
          <p:nvPr/>
        </p:nvSpPr>
        <p:spPr>
          <a:xfrm>
            <a:off x="3527984" y="1975104"/>
            <a:ext cx="2430704" cy="219456"/>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SETUP TIME</a:t>
            </a:r>
            <a:endParaRPr lang="en-US" sz="950" dirty="0"/>
          </a:p>
        </p:txBody>
      </p:sp>
      <p:sp>
        <p:nvSpPr>
          <p:cNvPr id="11" name="Text 9"/>
          <p:cNvSpPr/>
          <p:nvPr/>
        </p:nvSpPr>
        <p:spPr>
          <a:xfrm>
            <a:off x="3527984" y="2194560"/>
            <a:ext cx="2430704" cy="411480"/>
          </a:xfrm>
          <a:prstGeom prst="rect">
            <a:avLst/>
          </a:prstGeom>
          <a:noFill/>
          <a:ln/>
        </p:spPr>
        <p:txBody>
          <a:bodyPr wrap="square" lIns="0" tIns="0" rIns="0" bIns="0" rtlCol="0" anchor="ctr"/>
          <a:lstStyle/>
          <a:p>
            <a:pPr indent="0" marL="0">
              <a:buNone/>
            </a:pPr>
            <a:r>
              <a:rPr lang="en-US" sz="2800" b="1" dirty="0">
                <a:solidFill>
                  <a:srgbClr val="0A0A0A"/>
                </a:solidFill>
                <a:latin typeface="Consolas" pitchFamily="34" charset="0"/>
                <a:ea typeface="Consolas" pitchFamily="34" charset="-122"/>
                <a:cs typeface="Consolas" pitchFamily="34" charset="-120"/>
              </a:rPr>
              <a:t>18 hrs</a:t>
            </a:r>
            <a:endParaRPr lang="en-US" sz="2800" dirty="0"/>
          </a:p>
        </p:txBody>
      </p:sp>
      <p:sp>
        <p:nvSpPr>
          <p:cNvPr id="12" name="Text 10"/>
          <p:cNvSpPr/>
          <p:nvPr/>
        </p:nvSpPr>
        <p:spPr>
          <a:xfrm>
            <a:off x="3527984" y="2578608"/>
            <a:ext cx="2430704" cy="182880"/>
          </a:xfrm>
          <a:prstGeom prst="rect">
            <a:avLst/>
          </a:prstGeom>
          <a:noFill/>
          <a:ln/>
        </p:spPr>
        <p:txBody>
          <a:bodyPr wrap="square" lIns="0" tIns="0" rIns="0" bIns="0" rtlCol="0" anchor="ctr"/>
          <a:lstStyle/>
          <a:p>
            <a:pPr indent="0" marL="0">
              <a:buNone/>
            </a:pPr>
            <a:r>
              <a:rPr lang="en-US" sz="1050" b="1" dirty="0">
                <a:solidFill>
                  <a:srgbClr val="DC2626"/>
                </a:solidFill>
                <a:latin typeface="Calibri" pitchFamily="34" charset="0"/>
                <a:ea typeface="Calibri" pitchFamily="34" charset="-122"/>
                <a:cs typeface="Calibri" pitchFamily="34" charset="-120"/>
              </a:rPr>
              <a:t>should be under 4</a:t>
            </a:r>
            <a:endParaRPr lang="en-US" sz="1050" dirty="0"/>
          </a:p>
        </p:txBody>
      </p:sp>
      <p:sp>
        <p:nvSpPr>
          <p:cNvPr id="13" name="Shape 11"/>
          <p:cNvSpPr/>
          <p:nvPr/>
        </p:nvSpPr>
        <p:spPr>
          <a:xfrm>
            <a:off x="6141568" y="1828800"/>
            <a:ext cx="2705024" cy="960120"/>
          </a:xfrm>
          <a:prstGeom prst="roundRect">
            <a:avLst>
              <a:gd name="adj" fmla="val 7619"/>
            </a:avLst>
          </a:prstGeom>
          <a:solidFill>
            <a:srgbClr val="FFFFFF"/>
          </a:solidFill>
          <a:ln w="9525">
            <a:solidFill>
              <a:srgbClr val="E5E7EB"/>
            </a:solidFill>
            <a:prstDash val="solid"/>
          </a:ln>
        </p:spPr>
      </p:sp>
      <p:sp>
        <p:nvSpPr>
          <p:cNvPr id="14" name="Text 12"/>
          <p:cNvSpPr/>
          <p:nvPr/>
        </p:nvSpPr>
        <p:spPr>
          <a:xfrm>
            <a:off x="6324448" y="1975104"/>
            <a:ext cx="2430704" cy="219456"/>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ERRORS</a:t>
            </a:r>
            <a:endParaRPr lang="en-US" sz="950" dirty="0"/>
          </a:p>
        </p:txBody>
      </p:sp>
      <p:sp>
        <p:nvSpPr>
          <p:cNvPr id="15" name="Text 13"/>
          <p:cNvSpPr/>
          <p:nvPr/>
        </p:nvSpPr>
        <p:spPr>
          <a:xfrm>
            <a:off x="6324448" y="2194560"/>
            <a:ext cx="2430704" cy="411480"/>
          </a:xfrm>
          <a:prstGeom prst="rect">
            <a:avLst/>
          </a:prstGeom>
          <a:noFill/>
          <a:ln/>
        </p:spPr>
        <p:txBody>
          <a:bodyPr wrap="square" lIns="0" tIns="0" rIns="0" bIns="0" rtlCol="0" anchor="ctr"/>
          <a:lstStyle/>
          <a:p>
            <a:pPr indent="0" marL="0">
              <a:buNone/>
            </a:pPr>
            <a:r>
              <a:rPr lang="en-US" sz="2800" b="1" dirty="0">
                <a:solidFill>
                  <a:srgbClr val="0A0A0A"/>
                </a:solidFill>
                <a:latin typeface="Consolas" pitchFamily="34" charset="0"/>
                <a:ea typeface="Consolas" pitchFamily="34" charset="-122"/>
                <a:cs typeface="Consolas" pitchFamily="34" charset="-120"/>
              </a:rPr>
              <a:t>4.2k</a:t>
            </a:r>
            <a:endParaRPr lang="en-US" sz="2800" dirty="0"/>
          </a:p>
        </p:txBody>
      </p:sp>
      <p:sp>
        <p:nvSpPr>
          <p:cNvPr id="16" name="Text 14"/>
          <p:cNvSpPr/>
          <p:nvPr/>
        </p:nvSpPr>
        <p:spPr>
          <a:xfrm>
            <a:off x="6324448" y="2578608"/>
            <a:ext cx="2430704" cy="182880"/>
          </a:xfrm>
          <a:prstGeom prst="rect">
            <a:avLst/>
          </a:prstGeom>
          <a:noFill/>
          <a:ln/>
        </p:spPr>
        <p:txBody>
          <a:bodyPr wrap="square" lIns="0" tIns="0" rIns="0" bIns="0" rtlCol="0" anchor="ctr"/>
          <a:lstStyle/>
          <a:p>
            <a:pPr indent="0" marL="0">
              <a:buNone/>
            </a:pPr>
            <a:r>
              <a:rPr lang="en-US" sz="1050" b="1" dirty="0">
                <a:solidFill>
                  <a:srgbClr val="D97706"/>
                </a:solidFill>
                <a:latin typeface="Calibri" pitchFamily="34" charset="0"/>
                <a:ea typeface="Calibri" pitchFamily="34" charset="-122"/>
                <a:cs typeface="Calibri" pitchFamily="34" charset="-120"/>
              </a:rPr>
              <a:t>per 1,000 sessions</a:t>
            </a:r>
            <a:endParaRPr lang="en-US" sz="1050" dirty="0"/>
          </a:p>
        </p:txBody>
      </p:sp>
      <p:sp>
        <p:nvSpPr>
          <p:cNvPr id="17" name="Shape 15"/>
          <p:cNvSpPr/>
          <p:nvPr/>
        </p:nvSpPr>
        <p:spPr>
          <a:xfrm>
            <a:off x="8938031" y="1828800"/>
            <a:ext cx="2705024" cy="960120"/>
          </a:xfrm>
          <a:prstGeom prst="roundRect">
            <a:avLst>
              <a:gd name="adj" fmla="val 7619"/>
            </a:avLst>
          </a:prstGeom>
          <a:solidFill>
            <a:srgbClr val="FFFFFF"/>
          </a:solidFill>
          <a:ln w="9525">
            <a:solidFill>
              <a:srgbClr val="E5E7EB"/>
            </a:solidFill>
            <a:prstDash val="solid"/>
          </a:ln>
        </p:spPr>
      </p:sp>
      <p:sp>
        <p:nvSpPr>
          <p:cNvPr id="18" name="Text 16"/>
          <p:cNvSpPr/>
          <p:nvPr/>
        </p:nvSpPr>
        <p:spPr>
          <a:xfrm>
            <a:off x="9120911" y="1975104"/>
            <a:ext cx="2430704" cy="219456"/>
          </a:xfrm>
          <a:prstGeom prst="rect">
            <a:avLst/>
          </a:prstGeom>
          <a:noFill/>
          <a:ln/>
        </p:spPr>
        <p:txBody>
          <a:bodyPr wrap="square" lIns="0" tIns="0" rIns="0" bIns="0" rtlCol="0" anchor="ctr"/>
          <a:lstStyle/>
          <a:p>
            <a:pPr indent="0" marL="0">
              <a:buNone/>
            </a:pPr>
            <a:r>
              <a:rPr lang="en-US" sz="950" b="1" dirty="0">
                <a:solidFill>
                  <a:srgbClr val="6B7280"/>
                </a:solidFill>
                <a:latin typeface="Calibri" pitchFamily="34" charset="0"/>
                <a:ea typeface="Calibri" pitchFamily="34" charset="-122"/>
                <a:cs typeface="Calibri" pitchFamily="34" charset="-120"/>
              </a:rPr>
              <a:t>TOP 2 FILES</a:t>
            </a:r>
            <a:endParaRPr lang="en-US" sz="950" dirty="0"/>
          </a:p>
        </p:txBody>
      </p:sp>
      <p:sp>
        <p:nvSpPr>
          <p:cNvPr id="19" name="Text 17"/>
          <p:cNvSpPr/>
          <p:nvPr/>
        </p:nvSpPr>
        <p:spPr>
          <a:xfrm>
            <a:off x="9120911" y="2194560"/>
            <a:ext cx="2430704" cy="411480"/>
          </a:xfrm>
          <a:prstGeom prst="rect">
            <a:avLst/>
          </a:prstGeom>
          <a:noFill/>
          <a:ln/>
        </p:spPr>
        <p:txBody>
          <a:bodyPr wrap="square" lIns="0" tIns="0" rIns="0" bIns="0" rtlCol="0" anchor="ctr"/>
          <a:lstStyle/>
          <a:p>
            <a:pPr indent="0" marL="0">
              <a:buNone/>
            </a:pPr>
            <a:r>
              <a:rPr lang="en-US" sz="2800" b="1" dirty="0">
                <a:solidFill>
                  <a:srgbClr val="0A0A0A"/>
                </a:solidFill>
                <a:latin typeface="Consolas" pitchFamily="34" charset="0"/>
                <a:ea typeface="Consolas" pitchFamily="34" charset="-122"/>
                <a:cs typeface="Consolas" pitchFamily="34" charset="-120"/>
              </a:rPr>
              <a:t>57%</a:t>
            </a:r>
            <a:endParaRPr lang="en-US" sz="2800" dirty="0"/>
          </a:p>
        </p:txBody>
      </p:sp>
      <p:sp>
        <p:nvSpPr>
          <p:cNvPr id="20" name="Text 18"/>
          <p:cNvSpPr/>
          <p:nvPr/>
        </p:nvSpPr>
        <p:spPr>
          <a:xfrm>
            <a:off x="9120911" y="2578608"/>
            <a:ext cx="2430704" cy="182880"/>
          </a:xfrm>
          <a:prstGeom prst="rect">
            <a:avLst/>
          </a:prstGeom>
          <a:noFill/>
          <a:ln/>
        </p:spPr>
        <p:txBody>
          <a:bodyPr wrap="square" lIns="0" tIns="0" rIns="0" bIns="0" rtlCol="0" anchor="ctr"/>
          <a:lstStyle/>
          <a:p>
            <a:pPr indent="0" marL="0">
              <a:buNone/>
            </a:pPr>
            <a:r>
              <a:rPr lang="en-US" sz="1050" b="1" dirty="0">
                <a:solidFill>
                  <a:srgbClr val="4F46E5"/>
                </a:solidFill>
                <a:latin typeface="Calibri" pitchFamily="34" charset="0"/>
                <a:ea typeface="Calibri" pitchFamily="34" charset="-122"/>
                <a:cs typeface="Calibri" pitchFamily="34" charset="-120"/>
              </a:rPr>
              <a:t>of all the errors</a:t>
            </a:r>
            <a:endParaRPr lang="en-US" sz="1050" dirty="0"/>
          </a:p>
        </p:txBody>
      </p:sp>
      <p:sp>
        <p:nvSpPr>
          <p:cNvPr id="21" name="Text 19"/>
          <p:cNvSpPr/>
          <p:nvPr/>
        </p:nvSpPr>
        <p:spPr>
          <a:xfrm>
            <a:off x="548640" y="3063240"/>
            <a:ext cx="5394960" cy="256032"/>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THIS WEEK    </a:t>
            </a:r>
            <a:pPr indent="0" marL="0">
              <a:buNone/>
            </a:pPr>
            <a:r>
              <a:rPr lang="en-US" sz="1400" b="1" dirty="0">
                <a:solidFill>
                  <a:srgbClr val="0A0A0A"/>
                </a:solidFill>
                <a:latin typeface="Calibri" pitchFamily="34" charset="0"/>
                <a:ea typeface="Calibri" pitchFamily="34" charset="-122"/>
                <a:cs typeface="Calibri" pitchFamily="34" charset="-120"/>
              </a:rPr>
              <a:t>Where merchants get stuck</a:t>
            </a:r>
            <a:endParaRPr lang="en-US" sz="1100" dirty="0"/>
          </a:p>
        </p:txBody>
      </p:sp>
      <p:graphicFrame>
        <p:nvGraphicFramePr>
          <p:cNvPr id="22" name="Chart 0" descr=""/>
          <p:cNvGraphicFramePr/>
          <p:nvPr/>
        </p:nvGraphicFramePr>
        <p:xfrm>
          <a:off x="548640" y="3429000"/>
          <a:ext cx="5394960" cy="2514600"/>
        </p:xfrm>
        <a:graphic xmlns:a="http://schemas.openxmlformats.org/drawingml/2006/main">
          <a:graphicData uri="http://schemas.openxmlformats.org/drawingml/2006/chart">
            <c:chart xmlns:c="http://schemas.openxmlformats.org/drawingml/2006/chart" r:id="rId1"/>
          </a:graphicData>
        </a:graphic>
      </p:graphicFrame>
      <p:sp>
        <p:nvSpPr>
          <p:cNvPr id="23" name="Text 20"/>
          <p:cNvSpPr/>
          <p:nvPr/>
        </p:nvSpPr>
        <p:spPr>
          <a:xfrm>
            <a:off x="6172200" y="3063240"/>
            <a:ext cx="5532120" cy="256032"/>
          </a:xfrm>
          <a:prstGeom prst="rect">
            <a:avLst/>
          </a:prstGeom>
          <a:noFill/>
          <a:ln/>
        </p:spPr>
        <p:txBody>
          <a:bodyPr wrap="square" lIns="0" tIns="0" rIns="0" bIns="0" rtlCol="0" anchor="ctr"/>
          <a:lstStyle/>
          <a:p>
            <a:pPr indent="0" marL="0">
              <a:buNone/>
            </a:pPr>
            <a:r>
              <a:rPr lang="en-US" sz="1100" b="1" dirty="0">
                <a:solidFill>
                  <a:srgbClr val="4F46E5"/>
                </a:solidFill>
                <a:latin typeface="Calibri" pitchFamily="34" charset="0"/>
                <a:ea typeface="Calibri" pitchFamily="34" charset="-122"/>
                <a:cs typeface="Calibri" pitchFamily="34" charset="-120"/>
              </a:rPr>
              <a:t>NEXT SPRINT    </a:t>
            </a:r>
            <a:pPr indent="0" marL="0">
              <a:buNone/>
            </a:pPr>
            <a:r>
              <a:rPr lang="en-US" sz="1400" b="1" dirty="0">
                <a:solidFill>
                  <a:srgbClr val="0A0A0A"/>
                </a:solidFill>
                <a:latin typeface="Calibri" pitchFamily="34" charset="0"/>
                <a:ea typeface="Calibri" pitchFamily="34" charset="-122"/>
                <a:cs typeface="Calibri" pitchFamily="34" charset="-120"/>
              </a:rPr>
              <a:t>Fix the riskiest files first</a:t>
            </a:r>
            <a:endParaRPr lang="en-US" sz="1100" dirty="0"/>
          </a:p>
        </p:txBody>
      </p:sp>
      <p:sp>
        <p:nvSpPr>
          <p:cNvPr id="24" name="Text 21"/>
          <p:cNvSpPr/>
          <p:nvPr/>
        </p:nvSpPr>
        <p:spPr>
          <a:xfrm>
            <a:off x="6172200" y="3520440"/>
            <a:ext cx="3566160" cy="256032"/>
          </a:xfrm>
          <a:prstGeom prst="rect">
            <a:avLst/>
          </a:prstGeom>
          <a:noFill/>
          <a:ln/>
        </p:spPr>
        <p:txBody>
          <a:bodyPr wrap="square" lIns="0" tIns="0" rIns="0" bIns="0" rtlCol="0" anchor="ctr"/>
          <a:lstStyle/>
          <a:p>
            <a:pPr indent="0" marL="0">
              <a:buNone/>
            </a:pPr>
            <a:r>
              <a:rPr lang="en-US" sz="1150" b="1" dirty="0">
                <a:solidFill>
                  <a:srgbClr val="0A0A0A"/>
                </a:solidFill>
                <a:latin typeface="Consolas" pitchFamily="34" charset="0"/>
                <a:ea typeface="Consolas" pitchFamily="34" charset="-122"/>
                <a:cs typeface="Consolas" pitchFamily="34" charset="-120"/>
              </a:rPr>
              <a:t>CheckoutObserver.php</a:t>
            </a:r>
            <a:endParaRPr lang="en-US" sz="1150" dirty="0"/>
          </a:p>
        </p:txBody>
      </p:sp>
      <p:sp>
        <p:nvSpPr>
          <p:cNvPr id="25" name="Text 22"/>
          <p:cNvSpPr/>
          <p:nvPr/>
        </p:nvSpPr>
        <p:spPr>
          <a:xfrm>
            <a:off x="6172200" y="3776472"/>
            <a:ext cx="3566160" cy="20116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changed 18× · 1,200 errors</a:t>
            </a:r>
            <a:endParaRPr lang="en-US" sz="950" dirty="0"/>
          </a:p>
        </p:txBody>
      </p:sp>
      <p:sp>
        <p:nvSpPr>
          <p:cNvPr id="26" name="Shape 23"/>
          <p:cNvSpPr/>
          <p:nvPr/>
        </p:nvSpPr>
        <p:spPr>
          <a:xfrm>
            <a:off x="9875520" y="3593592"/>
            <a:ext cx="457200" cy="274320"/>
          </a:xfrm>
          <a:prstGeom prst="roundRect">
            <a:avLst>
              <a:gd name="adj" fmla="val 13333"/>
            </a:avLst>
          </a:prstGeom>
          <a:solidFill>
            <a:srgbClr val="FEF2F2"/>
          </a:solidFill>
          <a:ln w="12700">
            <a:solidFill>
              <a:srgbClr val="FEF2F2"/>
            </a:solidFill>
            <a:prstDash val="solid"/>
          </a:ln>
        </p:spPr>
      </p:sp>
      <p:sp>
        <p:nvSpPr>
          <p:cNvPr id="27" name="Text 24"/>
          <p:cNvSpPr/>
          <p:nvPr/>
        </p:nvSpPr>
        <p:spPr>
          <a:xfrm>
            <a:off x="9875520" y="3593592"/>
            <a:ext cx="457200" cy="274320"/>
          </a:xfrm>
          <a:prstGeom prst="rect">
            <a:avLst/>
          </a:prstGeom>
          <a:noFill/>
          <a:ln/>
        </p:spPr>
        <p:txBody>
          <a:bodyPr wrap="square" lIns="0" tIns="0" rIns="0" bIns="0" rtlCol="0" anchor="ctr"/>
          <a:lstStyle/>
          <a:p>
            <a:pPr algn="ctr" indent="0" marL="0">
              <a:buNone/>
            </a:pPr>
            <a:r>
              <a:rPr lang="en-US" sz="1000" b="1" dirty="0">
                <a:solidFill>
                  <a:srgbClr val="DC2626"/>
                </a:solidFill>
                <a:latin typeface="Consolas" pitchFamily="34" charset="0"/>
                <a:ea typeface="Consolas" pitchFamily="34" charset="-122"/>
                <a:cs typeface="Consolas" pitchFamily="34" charset="-120"/>
              </a:rPr>
              <a:t>P0</a:t>
            </a:r>
            <a:endParaRPr lang="en-US" sz="1000" dirty="0"/>
          </a:p>
        </p:txBody>
      </p:sp>
      <p:sp>
        <p:nvSpPr>
          <p:cNvPr id="28" name="Text 25"/>
          <p:cNvSpPr/>
          <p:nvPr/>
        </p:nvSpPr>
        <p:spPr>
          <a:xfrm>
            <a:off x="10424160" y="3593592"/>
            <a:ext cx="1280160" cy="274320"/>
          </a:xfrm>
          <a:prstGeom prst="rect">
            <a:avLst/>
          </a:prstGeom>
          <a:noFill/>
          <a:ln/>
        </p:spPr>
        <p:txBody>
          <a:bodyPr wrap="square" lIns="0" tIns="0" rIns="0" bIns="0" rtlCol="0" anchor="ctr"/>
          <a:lstStyle/>
          <a:p>
            <a:pPr algn="r" indent="0" marL="0">
              <a:buNone/>
            </a:pPr>
            <a:r>
              <a:rPr lang="en-US" sz="1500" b="1" dirty="0">
                <a:solidFill>
                  <a:srgbClr val="0A0A0A"/>
                </a:solidFill>
                <a:latin typeface="Consolas" pitchFamily="34" charset="0"/>
                <a:ea typeface="Consolas" pitchFamily="34" charset="-122"/>
                <a:cs typeface="Consolas" pitchFamily="34" charset="-120"/>
              </a:rPr>
              <a:t>94</a:t>
            </a:r>
            <a:endParaRPr lang="en-US" sz="1500" dirty="0"/>
          </a:p>
        </p:txBody>
      </p:sp>
      <p:sp>
        <p:nvSpPr>
          <p:cNvPr id="29" name="Shape 26"/>
          <p:cNvSpPr/>
          <p:nvPr/>
        </p:nvSpPr>
        <p:spPr>
          <a:xfrm>
            <a:off x="6172200" y="4041648"/>
            <a:ext cx="5532120" cy="0"/>
          </a:xfrm>
          <a:prstGeom prst="line">
            <a:avLst/>
          </a:prstGeom>
          <a:noFill/>
          <a:ln w="6350">
            <a:solidFill>
              <a:srgbClr val="F3F4F6"/>
            </a:solidFill>
            <a:prstDash val="solid"/>
          </a:ln>
        </p:spPr>
      </p:sp>
      <p:sp>
        <p:nvSpPr>
          <p:cNvPr id="30" name="Text 27"/>
          <p:cNvSpPr/>
          <p:nvPr/>
        </p:nvSpPr>
        <p:spPr>
          <a:xfrm>
            <a:off x="6172200" y="4123944"/>
            <a:ext cx="3566160" cy="256032"/>
          </a:xfrm>
          <a:prstGeom prst="rect">
            <a:avLst/>
          </a:prstGeom>
          <a:noFill/>
          <a:ln/>
        </p:spPr>
        <p:txBody>
          <a:bodyPr wrap="square" lIns="0" tIns="0" rIns="0" bIns="0" rtlCol="0" anchor="ctr"/>
          <a:lstStyle/>
          <a:p>
            <a:pPr indent="0" marL="0">
              <a:buNone/>
            </a:pPr>
            <a:r>
              <a:rPr lang="en-US" sz="1150" b="1" dirty="0">
                <a:solidFill>
                  <a:srgbClr val="0A0A0A"/>
                </a:solidFill>
                <a:latin typeface="Consolas" pitchFamily="34" charset="0"/>
                <a:ea typeface="Consolas" pitchFamily="34" charset="-122"/>
                <a:cs typeface="Consolas" pitchFamily="34" charset="-120"/>
              </a:rPr>
              <a:t>PaymentGatewayAdapter.php</a:t>
            </a:r>
            <a:endParaRPr lang="en-US" sz="1150" dirty="0"/>
          </a:p>
        </p:txBody>
      </p:sp>
      <p:sp>
        <p:nvSpPr>
          <p:cNvPr id="31" name="Text 28"/>
          <p:cNvSpPr/>
          <p:nvPr/>
        </p:nvSpPr>
        <p:spPr>
          <a:xfrm>
            <a:off x="6172200" y="4379976"/>
            <a:ext cx="3566160" cy="20116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changed 11× · 890 errors</a:t>
            </a:r>
            <a:endParaRPr lang="en-US" sz="950" dirty="0"/>
          </a:p>
        </p:txBody>
      </p:sp>
      <p:sp>
        <p:nvSpPr>
          <p:cNvPr id="32" name="Shape 29"/>
          <p:cNvSpPr/>
          <p:nvPr/>
        </p:nvSpPr>
        <p:spPr>
          <a:xfrm>
            <a:off x="9875520" y="4197096"/>
            <a:ext cx="457200" cy="274320"/>
          </a:xfrm>
          <a:prstGeom prst="roundRect">
            <a:avLst>
              <a:gd name="adj" fmla="val 13333"/>
            </a:avLst>
          </a:prstGeom>
          <a:solidFill>
            <a:srgbClr val="FEF2F2"/>
          </a:solidFill>
          <a:ln w="12700">
            <a:solidFill>
              <a:srgbClr val="FEF2F2"/>
            </a:solidFill>
            <a:prstDash val="solid"/>
          </a:ln>
        </p:spPr>
      </p:sp>
      <p:sp>
        <p:nvSpPr>
          <p:cNvPr id="33" name="Text 30"/>
          <p:cNvSpPr/>
          <p:nvPr/>
        </p:nvSpPr>
        <p:spPr>
          <a:xfrm>
            <a:off x="9875520" y="4197096"/>
            <a:ext cx="457200" cy="274320"/>
          </a:xfrm>
          <a:prstGeom prst="rect">
            <a:avLst/>
          </a:prstGeom>
          <a:noFill/>
          <a:ln/>
        </p:spPr>
        <p:txBody>
          <a:bodyPr wrap="square" lIns="0" tIns="0" rIns="0" bIns="0" rtlCol="0" anchor="ctr"/>
          <a:lstStyle/>
          <a:p>
            <a:pPr algn="ctr" indent="0" marL="0">
              <a:buNone/>
            </a:pPr>
            <a:r>
              <a:rPr lang="en-US" sz="1000" b="1" dirty="0">
                <a:solidFill>
                  <a:srgbClr val="DC2626"/>
                </a:solidFill>
                <a:latin typeface="Consolas" pitchFamily="34" charset="0"/>
                <a:ea typeface="Consolas" pitchFamily="34" charset="-122"/>
                <a:cs typeface="Consolas" pitchFamily="34" charset="-120"/>
              </a:rPr>
              <a:t>P0</a:t>
            </a:r>
            <a:endParaRPr lang="en-US" sz="1000" dirty="0"/>
          </a:p>
        </p:txBody>
      </p:sp>
      <p:sp>
        <p:nvSpPr>
          <p:cNvPr id="34" name="Text 31"/>
          <p:cNvSpPr/>
          <p:nvPr/>
        </p:nvSpPr>
        <p:spPr>
          <a:xfrm>
            <a:off x="10424160" y="4197096"/>
            <a:ext cx="1280160" cy="274320"/>
          </a:xfrm>
          <a:prstGeom prst="rect">
            <a:avLst/>
          </a:prstGeom>
          <a:noFill/>
          <a:ln/>
        </p:spPr>
        <p:txBody>
          <a:bodyPr wrap="square" lIns="0" tIns="0" rIns="0" bIns="0" rtlCol="0" anchor="ctr"/>
          <a:lstStyle/>
          <a:p>
            <a:pPr algn="r" indent="0" marL="0">
              <a:buNone/>
            </a:pPr>
            <a:r>
              <a:rPr lang="en-US" sz="1500" b="1" dirty="0">
                <a:solidFill>
                  <a:srgbClr val="0A0A0A"/>
                </a:solidFill>
                <a:latin typeface="Consolas" pitchFamily="34" charset="0"/>
                <a:ea typeface="Consolas" pitchFamily="34" charset="-122"/>
                <a:cs typeface="Consolas" pitchFamily="34" charset="-120"/>
              </a:rPr>
              <a:t>78</a:t>
            </a:r>
            <a:endParaRPr lang="en-US" sz="1500" dirty="0"/>
          </a:p>
        </p:txBody>
      </p:sp>
      <p:sp>
        <p:nvSpPr>
          <p:cNvPr id="35" name="Shape 32"/>
          <p:cNvSpPr/>
          <p:nvPr/>
        </p:nvSpPr>
        <p:spPr>
          <a:xfrm>
            <a:off x="6172200" y="4645152"/>
            <a:ext cx="5532120" cy="0"/>
          </a:xfrm>
          <a:prstGeom prst="line">
            <a:avLst/>
          </a:prstGeom>
          <a:noFill/>
          <a:ln w="6350">
            <a:solidFill>
              <a:srgbClr val="F3F4F6"/>
            </a:solidFill>
            <a:prstDash val="solid"/>
          </a:ln>
        </p:spPr>
      </p:sp>
      <p:sp>
        <p:nvSpPr>
          <p:cNvPr id="36" name="Text 33"/>
          <p:cNvSpPr/>
          <p:nvPr/>
        </p:nvSpPr>
        <p:spPr>
          <a:xfrm>
            <a:off x="6172200" y="4727448"/>
            <a:ext cx="3566160" cy="256032"/>
          </a:xfrm>
          <a:prstGeom prst="rect">
            <a:avLst/>
          </a:prstGeom>
          <a:noFill/>
          <a:ln/>
        </p:spPr>
        <p:txBody>
          <a:bodyPr wrap="square" lIns="0" tIns="0" rIns="0" bIns="0" rtlCol="0" anchor="ctr"/>
          <a:lstStyle/>
          <a:p>
            <a:pPr indent="0" marL="0">
              <a:buNone/>
            </a:pPr>
            <a:r>
              <a:rPr lang="en-US" sz="1150" b="1" dirty="0">
                <a:solidFill>
                  <a:srgbClr val="0A0A0A"/>
                </a:solidFill>
                <a:latin typeface="Consolas" pitchFamily="34" charset="0"/>
                <a:ea typeface="Consolas" pitchFamily="34" charset="-122"/>
                <a:cs typeface="Consolas" pitchFamily="34" charset="-120"/>
              </a:rPr>
              <a:t>WebhookHandshake.php</a:t>
            </a:r>
            <a:endParaRPr lang="en-US" sz="1150" dirty="0"/>
          </a:p>
        </p:txBody>
      </p:sp>
      <p:sp>
        <p:nvSpPr>
          <p:cNvPr id="37" name="Text 34"/>
          <p:cNvSpPr/>
          <p:nvPr/>
        </p:nvSpPr>
        <p:spPr>
          <a:xfrm>
            <a:off x="6172200" y="4983480"/>
            <a:ext cx="3566160" cy="20116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changed 6× · 340 errors</a:t>
            </a:r>
            <a:endParaRPr lang="en-US" sz="950" dirty="0"/>
          </a:p>
        </p:txBody>
      </p:sp>
      <p:sp>
        <p:nvSpPr>
          <p:cNvPr id="38" name="Shape 35"/>
          <p:cNvSpPr/>
          <p:nvPr/>
        </p:nvSpPr>
        <p:spPr>
          <a:xfrm>
            <a:off x="9875520" y="4800600"/>
            <a:ext cx="457200" cy="274320"/>
          </a:xfrm>
          <a:prstGeom prst="roundRect">
            <a:avLst>
              <a:gd name="adj" fmla="val 13333"/>
            </a:avLst>
          </a:prstGeom>
          <a:solidFill>
            <a:srgbClr val="FFFBEB"/>
          </a:solidFill>
          <a:ln w="12700">
            <a:solidFill>
              <a:srgbClr val="FFFBEB"/>
            </a:solidFill>
            <a:prstDash val="solid"/>
          </a:ln>
        </p:spPr>
      </p:sp>
      <p:sp>
        <p:nvSpPr>
          <p:cNvPr id="39" name="Text 36"/>
          <p:cNvSpPr/>
          <p:nvPr/>
        </p:nvSpPr>
        <p:spPr>
          <a:xfrm>
            <a:off x="9875520" y="4800600"/>
            <a:ext cx="457200" cy="274320"/>
          </a:xfrm>
          <a:prstGeom prst="rect">
            <a:avLst/>
          </a:prstGeom>
          <a:noFill/>
          <a:ln/>
        </p:spPr>
        <p:txBody>
          <a:bodyPr wrap="square" lIns="0" tIns="0" rIns="0" bIns="0" rtlCol="0" anchor="ctr"/>
          <a:lstStyle/>
          <a:p>
            <a:pPr algn="ctr" indent="0" marL="0">
              <a:buNone/>
            </a:pPr>
            <a:r>
              <a:rPr lang="en-US" sz="1000" b="1" dirty="0">
                <a:solidFill>
                  <a:srgbClr val="D97706"/>
                </a:solidFill>
                <a:latin typeface="Consolas" pitchFamily="34" charset="0"/>
                <a:ea typeface="Consolas" pitchFamily="34" charset="-122"/>
                <a:cs typeface="Consolas" pitchFamily="34" charset="-120"/>
              </a:rPr>
              <a:t>P1</a:t>
            </a:r>
            <a:endParaRPr lang="en-US" sz="1000" dirty="0"/>
          </a:p>
        </p:txBody>
      </p:sp>
      <p:sp>
        <p:nvSpPr>
          <p:cNvPr id="40" name="Text 37"/>
          <p:cNvSpPr/>
          <p:nvPr/>
        </p:nvSpPr>
        <p:spPr>
          <a:xfrm>
            <a:off x="10424160" y="4800600"/>
            <a:ext cx="1280160" cy="274320"/>
          </a:xfrm>
          <a:prstGeom prst="rect">
            <a:avLst/>
          </a:prstGeom>
          <a:noFill/>
          <a:ln/>
        </p:spPr>
        <p:txBody>
          <a:bodyPr wrap="square" lIns="0" tIns="0" rIns="0" bIns="0" rtlCol="0" anchor="ctr"/>
          <a:lstStyle/>
          <a:p>
            <a:pPr algn="r" indent="0" marL="0">
              <a:buNone/>
            </a:pPr>
            <a:r>
              <a:rPr lang="en-US" sz="1500" b="1" dirty="0">
                <a:solidFill>
                  <a:srgbClr val="0A0A0A"/>
                </a:solidFill>
                <a:latin typeface="Consolas" pitchFamily="34" charset="0"/>
                <a:ea typeface="Consolas" pitchFamily="34" charset="-122"/>
                <a:cs typeface="Consolas" pitchFamily="34" charset="-120"/>
              </a:rPr>
              <a:t>61</a:t>
            </a:r>
            <a:endParaRPr lang="en-US" sz="1500" dirty="0"/>
          </a:p>
        </p:txBody>
      </p:sp>
      <p:sp>
        <p:nvSpPr>
          <p:cNvPr id="41" name="Shape 38"/>
          <p:cNvSpPr/>
          <p:nvPr/>
        </p:nvSpPr>
        <p:spPr>
          <a:xfrm>
            <a:off x="6172200" y="5248656"/>
            <a:ext cx="5532120" cy="0"/>
          </a:xfrm>
          <a:prstGeom prst="line">
            <a:avLst/>
          </a:prstGeom>
          <a:noFill/>
          <a:ln w="6350">
            <a:solidFill>
              <a:srgbClr val="F3F4F6"/>
            </a:solidFill>
            <a:prstDash val="solid"/>
          </a:ln>
        </p:spPr>
      </p:sp>
      <p:sp>
        <p:nvSpPr>
          <p:cNvPr id="42" name="Text 39"/>
          <p:cNvSpPr/>
          <p:nvPr/>
        </p:nvSpPr>
        <p:spPr>
          <a:xfrm>
            <a:off x="6172200" y="5330952"/>
            <a:ext cx="3566160" cy="256032"/>
          </a:xfrm>
          <a:prstGeom prst="rect">
            <a:avLst/>
          </a:prstGeom>
          <a:noFill/>
          <a:ln/>
        </p:spPr>
        <p:txBody>
          <a:bodyPr wrap="square" lIns="0" tIns="0" rIns="0" bIns="0" rtlCol="0" anchor="ctr"/>
          <a:lstStyle/>
          <a:p>
            <a:pPr indent="0" marL="0">
              <a:buNone/>
            </a:pPr>
            <a:r>
              <a:rPr lang="en-US" sz="1150" b="1" dirty="0">
                <a:solidFill>
                  <a:srgbClr val="0A0A0A"/>
                </a:solidFill>
                <a:latin typeface="Consolas" pitchFamily="34" charset="0"/>
                <a:ea typeface="Consolas" pitchFamily="34" charset="-122"/>
                <a:cs typeface="Consolas" pitchFamily="34" charset="-120"/>
              </a:rPr>
              <a:t>SettingsPersister.php</a:t>
            </a:r>
            <a:endParaRPr lang="en-US" sz="1150" dirty="0"/>
          </a:p>
        </p:txBody>
      </p:sp>
      <p:sp>
        <p:nvSpPr>
          <p:cNvPr id="43" name="Text 40"/>
          <p:cNvSpPr/>
          <p:nvPr/>
        </p:nvSpPr>
        <p:spPr>
          <a:xfrm>
            <a:off x="6172200" y="5586984"/>
            <a:ext cx="3566160" cy="20116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changed 4× · 88 errors</a:t>
            </a:r>
            <a:endParaRPr lang="en-US" sz="950" dirty="0"/>
          </a:p>
        </p:txBody>
      </p:sp>
      <p:sp>
        <p:nvSpPr>
          <p:cNvPr id="44" name="Shape 41"/>
          <p:cNvSpPr/>
          <p:nvPr/>
        </p:nvSpPr>
        <p:spPr>
          <a:xfrm>
            <a:off x="9875520" y="5404104"/>
            <a:ext cx="457200" cy="274320"/>
          </a:xfrm>
          <a:prstGeom prst="roundRect">
            <a:avLst>
              <a:gd name="adj" fmla="val 13333"/>
            </a:avLst>
          </a:prstGeom>
          <a:solidFill>
            <a:srgbClr val="EEF2FF"/>
          </a:solidFill>
          <a:ln w="12700">
            <a:solidFill>
              <a:srgbClr val="EEF2FF"/>
            </a:solidFill>
            <a:prstDash val="solid"/>
          </a:ln>
        </p:spPr>
      </p:sp>
      <p:sp>
        <p:nvSpPr>
          <p:cNvPr id="45" name="Text 42"/>
          <p:cNvSpPr/>
          <p:nvPr/>
        </p:nvSpPr>
        <p:spPr>
          <a:xfrm>
            <a:off x="9875520" y="5404104"/>
            <a:ext cx="457200" cy="274320"/>
          </a:xfrm>
          <a:prstGeom prst="rect">
            <a:avLst/>
          </a:prstGeom>
          <a:noFill/>
          <a:ln/>
        </p:spPr>
        <p:txBody>
          <a:bodyPr wrap="square" lIns="0" tIns="0" rIns="0" bIns="0" rtlCol="0" anchor="ctr"/>
          <a:lstStyle/>
          <a:p>
            <a:pPr algn="ctr" indent="0" marL="0">
              <a:buNone/>
            </a:pPr>
            <a:r>
              <a:rPr lang="en-US" sz="1000" b="1" dirty="0">
                <a:solidFill>
                  <a:srgbClr val="4F46E5"/>
                </a:solidFill>
                <a:latin typeface="Consolas" pitchFamily="34" charset="0"/>
                <a:ea typeface="Consolas" pitchFamily="34" charset="-122"/>
                <a:cs typeface="Consolas" pitchFamily="34" charset="-120"/>
              </a:rPr>
              <a:t>P2</a:t>
            </a:r>
            <a:endParaRPr lang="en-US" sz="1000" dirty="0"/>
          </a:p>
        </p:txBody>
      </p:sp>
      <p:sp>
        <p:nvSpPr>
          <p:cNvPr id="46" name="Text 43"/>
          <p:cNvSpPr/>
          <p:nvPr/>
        </p:nvSpPr>
        <p:spPr>
          <a:xfrm>
            <a:off x="10424160" y="5404104"/>
            <a:ext cx="1280160" cy="274320"/>
          </a:xfrm>
          <a:prstGeom prst="rect">
            <a:avLst/>
          </a:prstGeom>
          <a:noFill/>
          <a:ln/>
        </p:spPr>
        <p:txBody>
          <a:bodyPr wrap="square" lIns="0" tIns="0" rIns="0" bIns="0" rtlCol="0" anchor="ctr"/>
          <a:lstStyle/>
          <a:p>
            <a:pPr algn="r" indent="0" marL="0">
              <a:buNone/>
            </a:pPr>
            <a:r>
              <a:rPr lang="en-US" sz="1500" b="1" dirty="0">
                <a:solidFill>
                  <a:srgbClr val="0A0A0A"/>
                </a:solidFill>
                <a:latin typeface="Consolas" pitchFamily="34" charset="0"/>
                <a:ea typeface="Consolas" pitchFamily="34" charset="-122"/>
                <a:cs typeface="Consolas" pitchFamily="34" charset="-120"/>
              </a:rPr>
              <a:t>28</a:t>
            </a:r>
            <a:endParaRPr lang="en-US" sz="1500" dirty="0"/>
          </a:p>
        </p:txBody>
      </p:sp>
      <p:sp>
        <p:nvSpPr>
          <p:cNvPr id="47" name="Shape 44"/>
          <p:cNvSpPr/>
          <p:nvPr/>
        </p:nvSpPr>
        <p:spPr>
          <a:xfrm>
            <a:off x="548640" y="5943600"/>
            <a:ext cx="11094415" cy="457200"/>
          </a:xfrm>
          <a:prstGeom prst="roundRect">
            <a:avLst>
              <a:gd name="adj" fmla="val 12000"/>
            </a:avLst>
          </a:prstGeom>
          <a:solidFill>
            <a:srgbClr val="EEF2FF"/>
          </a:solidFill>
          <a:ln w="12700">
            <a:solidFill>
              <a:srgbClr val="EEF2FF"/>
            </a:solidFill>
            <a:prstDash val="solid"/>
          </a:ln>
        </p:spPr>
      </p:sp>
      <p:sp>
        <p:nvSpPr>
          <p:cNvPr id="48" name="Shape 45"/>
          <p:cNvSpPr/>
          <p:nvPr/>
        </p:nvSpPr>
        <p:spPr>
          <a:xfrm>
            <a:off x="548640" y="5943600"/>
            <a:ext cx="64008" cy="457200"/>
          </a:xfrm>
          <a:prstGeom prst="rect">
            <a:avLst/>
          </a:prstGeom>
          <a:solidFill>
            <a:srgbClr val="4F46E5"/>
          </a:solidFill>
          <a:ln w="12700">
            <a:solidFill>
              <a:srgbClr val="4F46E5"/>
            </a:solidFill>
            <a:prstDash val="solid"/>
          </a:ln>
        </p:spPr>
      </p:sp>
      <p:sp>
        <p:nvSpPr>
          <p:cNvPr id="49" name="Text 46"/>
          <p:cNvSpPr/>
          <p:nvPr/>
        </p:nvSpPr>
        <p:spPr>
          <a:xfrm>
            <a:off x="731520" y="5943600"/>
            <a:ext cx="10820095" cy="457200"/>
          </a:xfrm>
          <a:prstGeom prst="rect">
            <a:avLst/>
          </a:prstGeom>
          <a:noFill/>
          <a:ln/>
        </p:spPr>
        <p:txBody>
          <a:bodyPr wrap="square" lIns="0" tIns="0" rIns="0" bIns="0" rtlCol="0" anchor="ctr"/>
          <a:lstStyle/>
          <a:p>
            <a:pPr indent="0" marL="0">
              <a:buNone/>
            </a:pPr>
            <a:r>
              <a:rPr lang="en-US" sz="1000" b="1" dirty="0">
                <a:solidFill>
                  <a:srgbClr val="4F46E5"/>
                </a:solidFill>
                <a:latin typeface="Calibri" pitchFamily="34" charset="0"/>
                <a:ea typeface="Calibri" pitchFamily="34" charset="-122"/>
                <a:cs typeface="Calibri" pitchFamily="34" charset="-120"/>
              </a:rPr>
              <a:t>THE REAL NUMBER    </a:t>
            </a:r>
            <a:pPr indent="0" marL="0">
              <a:buNone/>
            </a:pPr>
            <a:r>
              <a:rPr lang="en-US" sz="1200" dirty="0">
                <a:solidFill>
                  <a:srgbClr val="0A0A0A"/>
                </a:solidFill>
                <a:latin typeface="Calibri" pitchFamily="34" charset="0"/>
                <a:ea typeface="Calibri" pitchFamily="34" charset="-122"/>
                <a:cs typeface="Calibri" pitchFamily="34" charset="-120"/>
              </a:rPr>
              <a:t>Not bugs fixed per sprint. Time to a merchant's first sale — from 18 hours down to under 4.</a:t>
            </a:r>
            <a:endParaRPr lang="en-US" sz="1000" dirty="0"/>
          </a:p>
        </p:txBody>
      </p:sp>
      <p:sp>
        <p:nvSpPr>
          <p:cNvPr id="50" name="Shape 47"/>
          <p:cNvSpPr/>
          <p:nvPr/>
        </p:nvSpPr>
        <p:spPr>
          <a:xfrm>
            <a:off x="548640" y="6400800"/>
            <a:ext cx="11094415" cy="0"/>
          </a:xfrm>
          <a:prstGeom prst="line">
            <a:avLst/>
          </a:prstGeom>
          <a:noFill/>
          <a:ln w="6350">
            <a:solidFill>
              <a:srgbClr val="E5E7EB"/>
            </a:solidFill>
            <a:prstDash val="solid"/>
          </a:ln>
        </p:spPr>
      </p:sp>
      <p:sp>
        <p:nvSpPr>
          <p:cNvPr id="51" name="Text 48"/>
          <p:cNvSpPr/>
          <p:nvPr/>
        </p:nvSpPr>
        <p:spPr>
          <a:xfrm>
            <a:off x="548640" y="6528816"/>
            <a:ext cx="10454335" cy="237744"/>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Moses Bargue Kortu Jr.</a:t>
            </a:r>
            <a:pPr indent="0" marL="0">
              <a:buNone/>
            </a:pPr>
            <a:r>
              <a:rPr lang="en-US" sz="900" dirty="0">
                <a:solidFill>
                  <a:srgbClr val="9CA3AF"/>
                </a:solidFill>
                <a:latin typeface="Calibri" pitchFamily="34" charset="0"/>
                <a:ea typeface="Calibri" pitchFamily="34" charset="-122"/>
                <a:cs typeface="Calibri" pitchFamily="34" charset="-120"/>
              </a:rPr>
              <a:t>    ·    TPO case  ·  August 2026</a:t>
            </a:r>
            <a:endParaRPr lang="en-US" sz="900" dirty="0"/>
          </a:p>
        </p:txBody>
      </p:sp>
      <p:sp>
        <p:nvSpPr>
          <p:cNvPr id="52" name="Text 49"/>
          <p:cNvSpPr/>
          <p:nvPr/>
        </p:nvSpPr>
        <p:spPr>
          <a:xfrm>
            <a:off x="11002975" y="6528816"/>
            <a:ext cx="457200" cy="237744"/>
          </a:xfrm>
          <a:prstGeom prst="rect">
            <a:avLst/>
          </a:prstGeom>
          <a:noFill/>
          <a:ln/>
        </p:spPr>
        <p:txBody>
          <a:bodyPr wrap="square" lIns="0" tIns="0" rIns="0" bIns="0" rtlCol="0" anchor="ctr"/>
          <a:lstStyle/>
          <a:p>
            <a:pPr algn="r" indent="0" marL="0">
              <a:buNone/>
            </a:pPr>
            <a:r>
              <a:rPr lang="en-US" sz="1000" dirty="0">
                <a:solidFill>
                  <a:srgbClr val="9CA3AF"/>
                </a:solidFill>
                <a:latin typeface="Consolas" pitchFamily="34" charset="0"/>
                <a:ea typeface="Consolas" pitchFamily="34" charset="-122"/>
                <a:cs typeface="Consola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92608"/>
          </a:xfrm>
          <a:prstGeom prst="rect">
            <a:avLst/>
          </a:prstGeom>
          <a:noFill/>
          <a:ln/>
        </p:spPr>
        <p:txBody>
          <a:bodyPr wrap="square" lIns="0" tIns="0" rIns="0" bIns="0" rtlCol="0" anchor="ctr"/>
          <a:lstStyle/>
          <a:p>
            <a:pPr indent="0" marL="0">
              <a:buNone/>
            </a:pPr>
            <a:r>
              <a:rPr lang="en-US" sz="1200" b="1" dirty="0">
                <a:solidFill>
                  <a:srgbClr val="4F46E5"/>
                </a:solidFill>
                <a:latin typeface="Calibri" pitchFamily="34" charset="0"/>
                <a:ea typeface="Calibri" pitchFamily="34" charset="-122"/>
                <a:cs typeface="Calibri" pitchFamily="34" charset="-120"/>
              </a:rPr>
              <a:t>FERO</a:t>
            </a:r>
            <a:pPr indent="0" marL="0">
              <a:buNone/>
            </a:pPr>
            <a:r>
              <a:rPr lang="en-US" sz="1100" b="1" dirty="0">
                <a:solidFill>
                  <a:srgbClr val="6B7280"/>
                </a:solidFill>
                <a:latin typeface="Calibri" pitchFamily="34" charset="0"/>
                <a:ea typeface="Calibri" pitchFamily="34" charset="-122"/>
                <a:cs typeface="Calibri" pitchFamily="34" charset="-120"/>
              </a:rPr>
              <a:t>    04 · Problem 3 · The mid-sprint fire drill</a:t>
            </a:r>
            <a:endParaRPr lang="en-US" sz="1200" dirty="0"/>
          </a:p>
        </p:txBody>
      </p:sp>
      <p:sp>
        <p:nvSpPr>
          <p:cNvPr id="3" name="Text 1"/>
          <p:cNvSpPr/>
          <p:nvPr/>
        </p:nvSpPr>
        <p:spPr>
          <a:xfrm>
            <a:off x="548640" y="749808"/>
            <a:ext cx="11094415" cy="502920"/>
          </a:xfrm>
          <a:prstGeom prst="rect">
            <a:avLst/>
          </a:prstGeom>
          <a:noFill/>
          <a:ln/>
        </p:spPr>
        <p:txBody>
          <a:bodyPr wrap="square" lIns="0" tIns="0" rIns="0" bIns="0" rtlCol="0" anchor="ctr"/>
          <a:lstStyle/>
          <a:p>
            <a:pPr indent="0" marL="0">
              <a:buNone/>
            </a:pPr>
            <a:r>
              <a:rPr lang="en-US" sz="2700" b="1" dirty="0">
                <a:solidFill>
                  <a:srgbClr val="0A0A0A"/>
                </a:solidFill>
                <a:latin typeface="Calibri" pitchFamily="34" charset="0"/>
                <a:ea typeface="Calibri" pitchFamily="34" charset="-122"/>
                <a:cs typeface="Calibri" pitchFamily="34" charset="-120"/>
              </a:rPr>
              <a:t>The mid-sprint fire drill.</a:t>
            </a:r>
            <a:endParaRPr lang="en-US" sz="2700" dirty="0"/>
          </a:p>
        </p:txBody>
      </p:sp>
      <p:sp>
        <p:nvSpPr>
          <p:cNvPr id="4" name="Text 2"/>
          <p:cNvSpPr/>
          <p:nvPr/>
        </p:nvSpPr>
        <p:spPr>
          <a:xfrm>
            <a:off x="548640" y="1280160"/>
            <a:ext cx="11094415" cy="347472"/>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Protect the plan — but not blindly. Fifteen minutes decides, not the loudest voice.</a:t>
            </a:r>
            <a:endParaRPr lang="en-US" sz="1450" dirty="0"/>
          </a:p>
        </p:txBody>
      </p:sp>
      <p:sp>
        <p:nvSpPr>
          <p:cNvPr id="5" name="Shape 3"/>
          <p:cNvSpPr/>
          <p:nvPr/>
        </p:nvSpPr>
        <p:spPr>
          <a:xfrm>
            <a:off x="548640" y="1828800"/>
            <a:ext cx="3576218" cy="1234440"/>
          </a:xfrm>
          <a:prstGeom prst="roundRect">
            <a:avLst>
              <a:gd name="adj" fmla="val 5926"/>
            </a:avLst>
          </a:prstGeom>
          <a:solidFill>
            <a:srgbClr val="FAFAFA"/>
          </a:solidFill>
          <a:ln w="9525">
            <a:solidFill>
              <a:srgbClr val="E5E7EB"/>
            </a:solidFill>
            <a:prstDash val="solid"/>
          </a:ln>
        </p:spPr>
      </p:sp>
      <p:sp>
        <p:nvSpPr>
          <p:cNvPr id="6" name="Text 4"/>
          <p:cNvSpPr/>
          <p:nvPr/>
        </p:nvSpPr>
        <p:spPr>
          <a:xfrm>
            <a:off x="777240" y="1993392"/>
            <a:ext cx="3210458" cy="237744"/>
          </a:xfrm>
          <a:prstGeom prst="rect">
            <a:avLst/>
          </a:prstGeom>
          <a:noFill/>
          <a:ln/>
        </p:spPr>
        <p:txBody>
          <a:bodyPr wrap="square" lIns="0" tIns="0" rIns="0" bIns="0" rtlCol="0" anchor="ctr"/>
          <a:lstStyle/>
          <a:p>
            <a:pPr indent="0" marL="0">
              <a:buNone/>
            </a:pPr>
            <a:r>
              <a:rPr lang="en-US" sz="1000" b="1" dirty="0">
                <a:solidFill>
                  <a:srgbClr val="4F46E5"/>
                </a:solidFill>
                <a:latin typeface="Consolas" pitchFamily="34" charset="0"/>
                <a:ea typeface="Consolas" pitchFamily="34" charset="-122"/>
                <a:cs typeface="Consolas" pitchFamily="34" charset="-120"/>
              </a:rPr>
              <a:t>STEP 1 · 5 MIN</a:t>
            </a:r>
            <a:endParaRPr lang="en-US" sz="1000" dirty="0"/>
          </a:p>
        </p:txBody>
      </p:sp>
      <p:sp>
        <p:nvSpPr>
          <p:cNvPr id="7" name="Text 5"/>
          <p:cNvSpPr/>
          <p:nvPr/>
        </p:nvSpPr>
        <p:spPr>
          <a:xfrm>
            <a:off x="777240" y="2249424"/>
            <a:ext cx="3210458" cy="310896"/>
          </a:xfrm>
          <a:prstGeom prst="rect">
            <a:avLst/>
          </a:prstGeom>
          <a:noFill/>
          <a:ln/>
        </p:spPr>
        <p:txBody>
          <a:bodyPr wrap="square" lIns="0" tIns="0" rIns="0" bIns="0" rtlCol="0" anchor="ctr"/>
          <a:lstStyle/>
          <a:p>
            <a:pPr indent="0" marL="0">
              <a:buNone/>
            </a:pPr>
            <a:r>
              <a:rPr lang="en-US" sz="1600" b="1" dirty="0">
                <a:solidFill>
                  <a:srgbClr val="0A0A0A"/>
                </a:solidFill>
                <a:latin typeface="Calibri" pitchFamily="34" charset="0"/>
                <a:ea typeface="Calibri" pitchFamily="34" charset="-122"/>
                <a:cs typeface="Calibri" pitchFamily="34" charset="-120"/>
              </a:rPr>
              <a:t>Is the risk real?</a:t>
            </a:r>
            <a:endParaRPr lang="en-US" sz="1600" dirty="0"/>
          </a:p>
        </p:txBody>
      </p:sp>
      <p:sp>
        <p:nvSpPr>
          <p:cNvPr id="8" name="Text 6"/>
          <p:cNvSpPr/>
          <p:nvPr/>
        </p:nvSpPr>
        <p:spPr>
          <a:xfrm>
            <a:off x="777240" y="2578608"/>
            <a:ext cx="3210458" cy="457200"/>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Confirm it's genuinely a big account — not just an urgent tone.</a:t>
            </a:r>
            <a:endParaRPr lang="en-US" sz="1150" dirty="0"/>
          </a:p>
        </p:txBody>
      </p:sp>
      <p:sp>
        <p:nvSpPr>
          <p:cNvPr id="9" name="Text 7"/>
          <p:cNvSpPr/>
          <p:nvPr/>
        </p:nvSpPr>
        <p:spPr>
          <a:xfrm>
            <a:off x="4143146" y="1828800"/>
            <a:ext cx="146304" cy="1234440"/>
          </a:xfrm>
          <a:prstGeom prst="rect">
            <a:avLst/>
          </a:prstGeom>
          <a:noFill/>
          <a:ln/>
        </p:spPr>
        <p:txBody>
          <a:bodyPr wrap="square" lIns="0" tIns="0" rIns="0" bIns="0" rtlCol="0" anchor="ctr"/>
          <a:lstStyle/>
          <a:p>
            <a:pPr algn="ctr" indent="0" marL="0">
              <a:buNone/>
            </a:pPr>
            <a:r>
              <a:rPr lang="en-US" sz="1800" dirty="0">
                <a:solidFill>
                  <a:srgbClr val="9CA3AF"/>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4307738" y="1828800"/>
            <a:ext cx="3576218" cy="1234440"/>
          </a:xfrm>
          <a:prstGeom prst="roundRect">
            <a:avLst>
              <a:gd name="adj" fmla="val 5926"/>
            </a:avLst>
          </a:prstGeom>
          <a:solidFill>
            <a:srgbClr val="FAFAFA"/>
          </a:solidFill>
          <a:ln w="9525">
            <a:solidFill>
              <a:srgbClr val="E5E7EB"/>
            </a:solidFill>
            <a:prstDash val="solid"/>
          </a:ln>
        </p:spPr>
      </p:sp>
      <p:sp>
        <p:nvSpPr>
          <p:cNvPr id="11" name="Text 9"/>
          <p:cNvSpPr/>
          <p:nvPr/>
        </p:nvSpPr>
        <p:spPr>
          <a:xfrm>
            <a:off x="4536338" y="1993392"/>
            <a:ext cx="3210458" cy="237744"/>
          </a:xfrm>
          <a:prstGeom prst="rect">
            <a:avLst/>
          </a:prstGeom>
          <a:noFill/>
          <a:ln/>
        </p:spPr>
        <p:txBody>
          <a:bodyPr wrap="square" lIns="0" tIns="0" rIns="0" bIns="0" rtlCol="0" anchor="ctr"/>
          <a:lstStyle/>
          <a:p>
            <a:pPr indent="0" marL="0">
              <a:buNone/>
            </a:pPr>
            <a:r>
              <a:rPr lang="en-US" sz="1000" b="1" dirty="0">
                <a:solidFill>
                  <a:srgbClr val="4F46E5"/>
                </a:solidFill>
                <a:latin typeface="Consolas" pitchFamily="34" charset="0"/>
                <a:ea typeface="Consolas" pitchFamily="34" charset="-122"/>
                <a:cs typeface="Consolas" pitchFamily="34" charset="-120"/>
              </a:rPr>
              <a:t>STEP 2 · 5 MIN</a:t>
            </a:r>
            <a:endParaRPr lang="en-US" sz="1000" dirty="0"/>
          </a:p>
        </p:txBody>
      </p:sp>
      <p:sp>
        <p:nvSpPr>
          <p:cNvPr id="12" name="Text 10"/>
          <p:cNvSpPr/>
          <p:nvPr/>
        </p:nvSpPr>
        <p:spPr>
          <a:xfrm>
            <a:off x="4536338" y="2249424"/>
            <a:ext cx="3210458" cy="310896"/>
          </a:xfrm>
          <a:prstGeom prst="rect">
            <a:avLst/>
          </a:prstGeom>
          <a:noFill/>
          <a:ln/>
        </p:spPr>
        <p:txBody>
          <a:bodyPr wrap="square" lIns="0" tIns="0" rIns="0" bIns="0" rtlCol="0" anchor="ctr"/>
          <a:lstStyle/>
          <a:p>
            <a:pPr indent="0" marL="0">
              <a:buNone/>
            </a:pPr>
            <a:r>
              <a:rPr lang="en-US" sz="1600" b="1" dirty="0">
                <a:solidFill>
                  <a:srgbClr val="0A0A0A"/>
                </a:solidFill>
                <a:latin typeface="Calibri" pitchFamily="34" charset="0"/>
                <a:ea typeface="Calibri" pitchFamily="34" charset="-122"/>
                <a:cs typeface="Calibri" pitchFamily="34" charset="-120"/>
              </a:rPr>
              <a:t>How big is the fix?</a:t>
            </a:r>
            <a:endParaRPr lang="en-US" sz="1600" dirty="0"/>
          </a:p>
        </p:txBody>
      </p:sp>
      <p:sp>
        <p:nvSpPr>
          <p:cNvPr id="13" name="Text 11"/>
          <p:cNvSpPr/>
          <p:nvPr/>
        </p:nvSpPr>
        <p:spPr>
          <a:xfrm>
            <a:off x="4536338" y="2578608"/>
            <a:ext cx="3210458" cy="457200"/>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Size it with the tech lead. Quick, or a real project?</a:t>
            </a:r>
            <a:endParaRPr lang="en-US" sz="1150" dirty="0"/>
          </a:p>
        </p:txBody>
      </p:sp>
      <p:sp>
        <p:nvSpPr>
          <p:cNvPr id="14" name="Text 12"/>
          <p:cNvSpPr/>
          <p:nvPr/>
        </p:nvSpPr>
        <p:spPr>
          <a:xfrm>
            <a:off x="7902245" y="1828800"/>
            <a:ext cx="146304" cy="1234440"/>
          </a:xfrm>
          <a:prstGeom prst="rect">
            <a:avLst/>
          </a:prstGeom>
          <a:noFill/>
          <a:ln/>
        </p:spPr>
        <p:txBody>
          <a:bodyPr wrap="square" lIns="0" tIns="0" rIns="0" bIns="0" rtlCol="0" anchor="ctr"/>
          <a:lstStyle/>
          <a:p>
            <a:pPr algn="ctr" indent="0" marL="0">
              <a:buNone/>
            </a:pPr>
            <a:r>
              <a:rPr lang="en-US" sz="1800" dirty="0">
                <a:solidFill>
                  <a:srgbClr val="9CA3AF"/>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8066837" y="1828800"/>
            <a:ext cx="3576218" cy="1234440"/>
          </a:xfrm>
          <a:prstGeom prst="roundRect">
            <a:avLst>
              <a:gd name="adj" fmla="val 5926"/>
            </a:avLst>
          </a:prstGeom>
          <a:solidFill>
            <a:srgbClr val="FAFAFA"/>
          </a:solidFill>
          <a:ln w="9525">
            <a:solidFill>
              <a:srgbClr val="E5E7EB"/>
            </a:solidFill>
            <a:prstDash val="solid"/>
          </a:ln>
        </p:spPr>
      </p:sp>
      <p:sp>
        <p:nvSpPr>
          <p:cNvPr id="16" name="Text 14"/>
          <p:cNvSpPr/>
          <p:nvPr/>
        </p:nvSpPr>
        <p:spPr>
          <a:xfrm>
            <a:off x="8295437" y="1993392"/>
            <a:ext cx="3210458" cy="237744"/>
          </a:xfrm>
          <a:prstGeom prst="rect">
            <a:avLst/>
          </a:prstGeom>
          <a:noFill/>
          <a:ln/>
        </p:spPr>
        <p:txBody>
          <a:bodyPr wrap="square" lIns="0" tIns="0" rIns="0" bIns="0" rtlCol="0" anchor="ctr"/>
          <a:lstStyle/>
          <a:p>
            <a:pPr indent="0" marL="0">
              <a:buNone/>
            </a:pPr>
            <a:r>
              <a:rPr lang="en-US" sz="1000" b="1" dirty="0">
                <a:solidFill>
                  <a:srgbClr val="4F46E5"/>
                </a:solidFill>
                <a:latin typeface="Consolas" pitchFamily="34" charset="0"/>
                <a:ea typeface="Consolas" pitchFamily="34" charset="-122"/>
                <a:cs typeface="Consolas" pitchFamily="34" charset="-120"/>
              </a:rPr>
              <a:t>STEP 3 · 5 MIN</a:t>
            </a:r>
            <a:endParaRPr lang="en-US" sz="1000" dirty="0"/>
          </a:p>
        </p:txBody>
      </p:sp>
      <p:sp>
        <p:nvSpPr>
          <p:cNvPr id="17" name="Text 15"/>
          <p:cNvSpPr/>
          <p:nvPr/>
        </p:nvSpPr>
        <p:spPr>
          <a:xfrm>
            <a:off x="8295437" y="2249424"/>
            <a:ext cx="3210458" cy="310896"/>
          </a:xfrm>
          <a:prstGeom prst="rect">
            <a:avLst/>
          </a:prstGeom>
          <a:noFill/>
          <a:ln/>
        </p:spPr>
        <p:txBody>
          <a:bodyPr wrap="square" lIns="0" tIns="0" rIns="0" bIns="0" rtlCol="0" anchor="ctr"/>
          <a:lstStyle/>
          <a:p>
            <a:pPr indent="0" marL="0">
              <a:buNone/>
            </a:pPr>
            <a:r>
              <a:rPr lang="en-US" sz="1600" b="1" dirty="0">
                <a:solidFill>
                  <a:srgbClr val="0A0A0A"/>
                </a:solidFill>
                <a:latin typeface="Calibri" pitchFamily="34" charset="0"/>
                <a:ea typeface="Calibri" pitchFamily="34" charset="-122"/>
                <a:cs typeface="Calibri" pitchFamily="34" charset="-120"/>
              </a:rPr>
              <a:t>Decide and tell them</a:t>
            </a:r>
            <a:endParaRPr lang="en-US" sz="1600" dirty="0"/>
          </a:p>
        </p:txBody>
      </p:sp>
      <p:sp>
        <p:nvSpPr>
          <p:cNvPr id="18" name="Text 16"/>
          <p:cNvSpPr/>
          <p:nvPr/>
        </p:nvSpPr>
        <p:spPr>
          <a:xfrm>
            <a:off x="8295437" y="2578608"/>
            <a:ext cx="3210458" cy="457200"/>
          </a:xfrm>
          <a:prstGeom prst="rect">
            <a:avLst/>
          </a:prstGeom>
          <a:noFill/>
          <a:ln/>
        </p:spPr>
        <p:txBody>
          <a:bodyPr wrap="square" lIns="0" tIns="0" rIns="0" bIns="0" rtlCol="0" anchor="ctr"/>
          <a:lstStyle/>
          <a:p>
            <a:pPr indent="0" marL="0">
              <a:buNone/>
            </a:pPr>
            <a:r>
              <a:rPr lang="en-US" sz="1150" dirty="0">
                <a:solidFill>
                  <a:srgbClr val="4B5563"/>
                </a:solidFill>
                <a:latin typeface="Calibri" pitchFamily="34" charset="0"/>
                <a:ea typeface="Calibri" pitchFamily="34" charset="-122"/>
                <a:cs typeface="Calibri" pitchFamily="34" charset="-120"/>
              </a:rPr>
              <a:t>Swap it in, or give a firm date. Put it in writing for the rep.</a:t>
            </a:r>
            <a:endParaRPr lang="en-US" sz="1150" dirty="0"/>
          </a:p>
        </p:txBody>
      </p:sp>
      <p:sp>
        <p:nvSpPr>
          <p:cNvPr id="19" name="Text 17"/>
          <p:cNvSpPr/>
          <p:nvPr/>
        </p:nvSpPr>
        <p:spPr>
          <a:xfrm>
            <a:off x="548640" y="3337560"/>
            <a:ext cx="11094415" cy="274320"/>
          </a:xfrm>
          <a:prstGeom prst="rect">
            <a:avLst/>
          </a:prstGeom>
          <a:noFill/>
          <a:ln/>
        </p:spPr>
        <p:txBody>
          <a:bodyPr wrap="square" lIns="0" tIns="0" rIns="0" bIns="0" rtlCol="0" anchor="ctr"/>
          <a:lstStyle/>
          <a:p>
            <a:pPr indent="0" marL="0">
              <a:buNone/>
            </a:pPr>
            <a:r>
              <a:rPr lang="en-US" sz="1100" b="1" dirty="0">
                <a:solidFill>
                  <a:srgbClr val="4F46E5"/>
                </a:solidFill>
                <a:latin typeface="Calibri" pitchFamily="34" charset="0"/>
                <a:ea typeface="Calibri" pitchFamily="34" charset="-122"/>
                <a:cs typeface="Calibri" pitchFamily="34" charset="-120"/>
              </a:rPr>
              <a:t>NEXT SPRINT    </a:t>
            </a:r>
            <a:pPr indent="0" marL="0">
              <a:buNone/>
            </a:pPr>
            <a:r>
              <a:rPr lang="en-US" sz="1400" b="1" dirty="0">
                <a:solidFill>
                  <a:srgbClr val="0A0A0A"/>
                </a:solidFill>
                <a:latin typeface="Calibri" pitchFamily="34" charset="0"/>
                <a:ea typeface="Calibri" pitchFamily="34" charset="-122"/>
                <a:cs typeface="Calibri" pitchFamily="34" charset="-120"/>
              </a:rPr>
              <a:t>A set lane for every request</a:t>
            </a:r>
            <a:endParaRPr lang="en-US" sz="1100" dirty="0"/>
          </a:p>
        </p:txBody>
      </p:sp>
      <p:sp>
        <p:nvSpPr>
          <p:cNvPr id="20" name="Text 18"/>
          <p:cNvSpPr/>
          <p:nvPr/>
        </p:nvSpPr>
        <p:spPr>
          <a:xfrm>
            <a:off x="548640" y="3721608"/>
            <a:ext cx="1097280" cy="25603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LANE</a:t>
            </a:r>
            <a:endParaRPr lang="en-US" sz="1000" dirty="0"/>
          </a:p>
        </p:txBody>
      </p:sp>
      <p:sp>
        <p:nvSpPr>
          <p:cNvPr id="21" name="Text 19"/>
          <p:cNvSpPr/>
          <p:nvPr/>
        </p:nvSpPr>
        <p:spPr>
          <a:xfrm>
            <a:off x="1645920" y="3721608"/>
            <a:ext cx="5120640" cy="25603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WHEN</a:t>
            </a:r>
            <a:endParaRPr lang="en-US" sz="1000" dirty="0"/>
          </a:p>
        </p:txBody>
      </p:sp>
      <p:sp>
        <p:nvSpPr>
          <p:cNvPr id="22" name="Text 20"/>
          <p:cNvSpPr/>
          <p:nvPr/>
        </p:nvSpPr>
        <p:spPr>
          <a:xfrm>
            <a:off x="6766560" y="3721608"/>
            <a:ext cx="1554480" cy="25603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DEADLINE</a:t>
            </a:r>
            <a:endParaRPr lang="en-US" sz="1000" dirty="0"/>
          </a:p>
        </p:txBody>
      </p:sp>
      <p:sp>
        <p:nvSpPr>
          <p:cNvPr id="23" name="Text 21"/>
          <p:cNvSpPr/>
          <p:nvPr/>
        </p:nvSpPr>
        <p:spPr>
          <a:xfrm>
            <a:off x="8321040" y="3721608"/>
            <a:ext cx="3291840" cy="256032"/>
          </a:xfrm>
          <a:prstGeom prst="rect">
            <a:avLst/>
          </a:prstGeom>
          <a:noFill/>
          <a:ln/>
        </p:spPr>
        <p:txBody>
          <a:bodyPr wrap="square" lIns="0" tIns="0" rIns="0" bIns="0" rtlCol="0" anchor="ctr"/>
          <a:lstStyle/>
          <a:p>
            <a:pPr indent="0" marL="0">
              <a:buNone/>
            </a:pPr>
            <a:r>
              <a:rPr lang="en-US" sz="1000" b="1" dirty="0">
                <a:solidFill>
                  <a:srgbClr val="6B7280"/>
                </a:solidFill>
                <a:latin typeface="Calibri" pitchFamily="34" charset="0"/>
                <a:ea typeface="Calibri" pitchFamily="34" charset="-122"/>
                <a:cs typeface="Calibri" pitchFamily="34" charset="-120"/>
              </a:rPr>
              <a:t>GOES TO</a:t>
            </a:r>
            <a:endParaRPr lang="en-US" sz="1000" dirty="0"/>
          </a:p>
        </p:txBody>
      </p:sp>
      <p:sp>
        <p:nvSpPr>
          <p:cNvPr id="24" name="Shape 22"/>
          <p:cNvSpPr/>
          <p:nvPr/>
        </p:nvSpPr>
        <p:spPr>
          <a:xfrm>
            <a:off x="548640" y="3995928"/>
            <a:ext cx="11094415" cy="0"/>
          </a:xfrm>
          <a:prstGeom prst="line">
            <a:avLst/>
          </a:prstGeom>
          <a:noFill/>
          <a:ln w="12700">
            <a:solidFill>
              <a:srgbClr val="0A0A0A"/>
            </a:solidFill>
            <a:prstDash val="solid"/>
          </a:ln>
        </p:spPr>
      </p:sp>
      <p:sp>
        <p:nvSpPr>
          <p:cNvPr id="25" name="Shape 23"/>
          <p:cNvSpPr/>
          <p:nvPr/>
        </p:nvSpPr>
        <p:spPr>
          <a:xfrm>
            <a:off x="548640" y="4142232"/>
            <a:ext cx="493776" cy="274320"/>
          </a:xfrm>
          <a:prstGeom prst="roundRect">
            <a:avLst>
              <a:gd name="adj" fmla="val 13333"/>
            </a:avLst>
          </a:prstGeom>
          <a:solidFill>
            <a:srgbClr val="FEF2F2"/>
          </a:solidFill>
          <a:ln w="12700">
            <a:solidFill>
              <a:srgbClr val="FEF2F2"/>
            </a:solidFill>
            <a:prstDash val="solid"/>
          </a:ln>
        </p:spPr>
      </p:sp>
      <p:sp>
        <p:nvSpPr>
          <p:cNvPr id="26" name="Text 24"/>
          <p:cNvSpPr/>
          <p:nvPr/>
        </p:nvSpPr>
        <p:spPr>
          <a:xfrm>
            <a:off x="548640" y="4142232"/>
            <a:ext cx="493776" cy="274320"/>
          </a:xfrm>
          <a:prstGeom prst="rect">
            <a:avLst/>
          </a:prstGeom>
          <a:noFill/>
          <a:ln/>
        </p:spPr>
        <p:txBody>
          <a:bodyPr wrap="square" lIns="0" tIns="0" rIns="0" bIns="0" rtlCol="0" anchor="ctr"/>
          <a:lstStyle/>
          <a:p>
            <a:pPr algn="ctr" indent="0" marL="0">
              <a:buNone/>
            </a:pPr>
            <a:r>
              <a:rPr lang="en-US" sz="1000" b="1" dirty="0">
                <a:solidFill>
                  <a:srgbClr val="DC2626"/>
                </a:solidFill>
                <a:latin typeface="Consolas" pitchFamily="34" charset="0"/>
                <a:ea typeface="Consolas" pitchFamily="34" charset="-122"/>
                <a:cs typeface="Consolas" pitchFamily="34" charset="-120"/>
              </a:rPr>
              <a:t>P0</a:t>
            </a:r>
            <a:endParaRPr lang="en-US" sz="1000" dirty="0"/>
          </a:p>
        </p:txBody>
      </p:sp>
      <p:sp>
        <p:nvSpPr>
          <p:cNvPr id="27" name="Text 25"/>
          <p:cNvSpPr/>
          <p:nvPr/>
        </p:nvSpPr>
        <p:spPr>
          <a:xfrm>
            <a:off x="1645920" y="4087368"/>
            <a:ext cx="5120640" cy="420624"/>
          </a:xfrm>
          <a:prstGeom prst="rect">
            <a:avLst/>
          </a:prstGeom>
          <a:noFill/>
          <a:ln/>
        </p:spPr>
        <p:txBody>
          <a:bodyPr wrap="square" lIns="0" tIns="0" rIns="0" bIns="0" rtlCol="0" anchor="ctr"/>
          <a:lstStyle/>
          <a:p>
            <a:pPr indent="0" marL="0">
              <a:buNone/>
            </a:pPr>
            <a:r>
              <a:rPr lang="en-US" sz="1200" dirty="0">
                <a:solidFill>
                  <a:srgbClr val="0A0A0A"/>
                </a:solidFill>
                <a:latin typeface="Calibri" pitchFamily="34" charset="0"/>
                <a:ea typeface="Calibri" pitchFamily="34" charset="-122"/>
                <a:cs typeface="Calibri" pitchFamily="34" charset="-120"/>
              </a:rPr>
              <a:t>Platform down, money can't move</a:t>
            </a:r>
            <a:endParaRPr lang="en-US" sz="1200" dirty="0"/>
          </a:p>
        </p:txBody>
      </p:sp>
      <p:sp>
        <p:nvSpPr>
          <p:cNvPr id="28" name="Text 26"/>
          <p:cNvSpPr/>
          <p:nvPr/>
        </p:nvSpPr>
        <p:spPr>
          <a:xfrm>
            <a:off x="6766560" y="4087368"/>
            <a:ext cx="1554480" cy="420624"/>
          </a:xfrm>
          <a:prstGeom prst="rect">
            <a:avLst/>
          </a:prstGeom>
          <a:noFill/>
          <a:ln/>
        </p:spPr>
        <p:txBody>
          <a:bodyPr wrap="square" lIns="0" tIns="0" rIns="0" bIns="0" rtlCol="0" anchor="ctr"/>
          <a:lstStyle/>
          <a:p>
            <a:pPr indent="0" marL="0">
              <a:buNone/>
            </a:pPr>
            <a:r>
              <a:rPr lang="en-US" sz="1150" b="1" dirty="0">
                <a:solidFill>
                  <a:srgbClr val="DC2626"/>
                </a:solidFill>
                <a:latin typeface="Consolas" pitchFamily="34" charset="0"/>
                <a:ea typeface="Consolas" pitchFamily="34" charset="-122"/>
                <a:cs typeface="Consolas" pitchFamily="34" charset="-120"/>
              </a:rPr>
              <a:t>4 hours</a:t>
            </a:r>
            <a:endParaRPr lang="en-US" sz="1150" dirty="0"/>
          </a:p>
        </p:txBody>
      </p:sp>
      <p:sp>
        <p:nvSpPr>
          <p:cNvPr id="29" name="Text 27"/>
          <p:cNvSpPr/>
          <p:nvPr/>
        </p:nvSpPr>
        <p:spPr>
          <a:xfrm>
            <a:off x="8321040" y="4087368"/>
            <a:ext cx="3291840" cy="420624"/>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everyone, now</a:t>
            </a:r>
            <a:endParaRPr lang="en-US" sz="1200" dirty="0"/>
          </a:p>
        </p:txBody>
      </p:sp>
      <p:sp>
        <p:nvSpPr>
          <p:cNvPr id="30" name="Shape 28"/>
          <p:cNvSpPr/>
          <p:nvPr/>
        </p:nvSpPr>
        <p:spPr>
          <a:xfrm>
            <a:off x="548640" y="4507992"/>
            <a:ext cx="11094415" cy="0"/>
          </a:xfrm>
          <a:prstGeom prst="line">
            <a:avLst/>
          </a:prstGeom>
          <a:noFill/>
          <a:ln w="6350">
            <a:solidFill>
              <a:srgbClr val="F3F4F6"/>
            </a:solidFill>
            <a:prstDash val="solid"/>
          </a:ln>
        </p:spPr>
      </p:sp>
      <p:sp>
        <p:nvSpPr>
          <p:cNvPr id="31" name="Shape 29"/>
          <p:cNvSpPr/>
          <p:nvPr/>
        </p:nvSpPr>
        <p:spPr>
          <a:xfrm>
            <a:off x="548640" y="4562856"/>
            <a:ext cx="493776" cy="274320"/>
          </a:xfrm>
          <a:prstGeom prst="roundRect">
            <a:avLst>
              <a:gd name="adj" fmla="val 13333"/>
            </a:avLst>
          </a:prstGeom>
          <a:solidFill>
            <a:srgbClr val="FFFBEB"/>
          </a:solidFill>
          <a:ln w="12700">
            <a:solidFill>
              <a:srgbClr val="FFFBEB"/>
            </a:solidFill>
            <a:prstDash val="solid"/>
          </a:ln>
        </p:spPr>
      </p:sp>
      <p:sp>
        <p:nvSpPr>
          <p:cNvPr id="32" name="Text 30"/>
          <p:cNvSpPr/>
          <p:nvPr/>
        </p:nvSpPr>
        <p:spPr>
          <a:xfrm>
            <a:off x="548640" y="4562856"/>
            <a:ext cx="493776" cy="274320"/>
          </a:xfrm>
          <a:prstGeom prst="rect">
            <a:avLst/>
          </a:prstGeom>
          <a:noFill/>
          <a:ln/>
        </p:spPr>
        <p:txBody>
          <a:bodyPr wrap="square" lIns="0" tIns="0" rIns="0" bIns="0" rtlCol="0" anchor="ctr"/>
          <a:lstStyle/>
          <a:p>
            <a:pPr algn="ctr" indent="0" marL="0">
              <a:buNone/>
            </a:pPr>
            <a:r>
              <a:rPr lang="en-US" sz="1000" b="1" dirty="0">
                <a:solidFill>
                  <a:srgbClr val="D97706"/>
                </a:solidFill>
                <a:latin typeface="Consolas" pitchFamily="34" charset="0"/>
                <a:ea typeface="Consolas" pitchFamily="34" charset="-122"/>
                <a:cs typeface="Consolas" pitchFamily="34" charset="-120"/>
              </a:rPr>
              <a:t>P1</a:t>
            </a:r>
            <a:endParaRPr lang="en-US" sz="1000" dirty="0"/>
          </a:p>
        </p:txBody>
      </p:sp>
      <p:sp>
        <p:nvSpPr>
          <p:cNvPr id="33" name="Text 31"/>
          <p:cNvSpPr/>
          <p:nvPr/>
        </p:nvSpPr>
        <p:spPr>
          <a:xfrm>
            <a:off x="1645920" y="4507992"/>
            <a:ext cx="5120640" cy="420624"/>
          </a:xfrm>
          <a:prstGeom prst="rect">
            <a:avLst/>
          </a:prstGeom>
          <a:noFill/>
          <a:ln/>
        </p:spPr>
        <p:txBody>
          <a:bodyPr wrap="square" lIns="0" tIns="0" rIns="0" bIns="0" rtlCol="0" anchor="ctr"/>
          <a:lstStyle/>
          <a:p>
            <a:pPr indent="0" marL="0">
              <a:buNone/>
            </a:pPr>
            <a:r>
              <a:rPr lang="en-US" sz="1200" dirty="0">
                <a:solidFill>
                  <a:srgbClr val="0A0A0A"/>
                </a:solidFill>
                <a:latin typeface="Calibri" pitchFamily="34" charset="0"/>
                <a:ea typeface="Calibri" pitchFamily="34" charset="-122"/>
                <a:cs typeface="Calibri" pitchFamily="34" charset="-120"/>
              </a:rPr>
              <a:t>Big merchant blocked, over $50k</a:t>
            </a:r>
            <a:endParaRPr lang="en-US" sz="1200" dirty="0"/>
          </a:p>
        </p:txBody>
      </p:sp>
      <p:sp>
        <p:nvSpPr>
          <p:cNvPr id="34" name="Text 32"/>
          <p:cNvSpPr/>
          <p:nvPr/>
        </p:nvSpPr>
        <p:spPr>
          <a:xfrm>
            <a:off x="6766560" y="4507992"/>
            <a:ext cx="1554480" cy="420624"/>
          </a:xfrm>
          <a:prstGeom prst="rect">
            <a:avLst/>
          </a:prstGeom>
          <a:noFill/>
          <a:ln/>
        </p:spPr>
        <p:txBody>
          <a:bodyPr wrap="square" lIns="0" tIns="0" rIns="0" bIns="0" rtlCol="0" anchor="ctr"/>
          <a:lstStyle/>
          <a:p>
            <a:pPr indent="0" marL="0">
              <a:buNone/>
            </a:pPr>
            <a:r>
              <a:rPr lang="en-US" sz="1150" b="1" dirty="0">
                <a:solidFill>
                  <a:srgbClr val="D97706"/>
                </a:solidFill>
                <a:latin typeface="Consolas" pitchFamily="34" charset="0"/>
                <a:ea typeface="Consolas" pitchFamily="34" charset="-122"/>
                <a:cs typeface="Consolas" pitchFamily="34" charset="-120"/>
              </a:rPr>
              <a:t>24 hours</a:t>
            </a:r>
            <a:endParaRPr lang="en-US" sz="1150" dirty="0"/>
          </a:p>
        </p:txBody>
      </p:sp>
      <p:sp>
        <p:nvSpPr>
          <p:cNvPr id="35" name="Text 33"/>
          <p:cNvSpPr/>
          <p:nvPr/>
        </p:nvSpPr>
        <p:spPr>
          <a:xfrm>
            <a:off x="8321040" y="4507992"/>
            <a:ext cx="3291840" cy="420624"/>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15% buffer</a:t>
            </a:r>
            <a:endParaRPr lang="en-US" sz="1200" dirty="0"/>
          </a:p>
        </p:txBody>
      </p:sp>
      <p:sp>
        <p:nvSpPr>
          <p:cNvPr id="36" name="Shape 34"/>
          <p:cNvSpPr/>
          <p:nvPr/>
        </p:nvSpPr>
        <p:spPr>
          <a:xfrm>
            <a:off x="548640" y="4928616"/>
            <a:ext cx="11094415" cy="0"/>
          </a:xfrm>
          <a:prstGeom prst="line">
            <a:avLst/>
          </a:prstGeom>
          <a:noFill/>
          <a:ln w="6350">
            <a:solidFill>
              <a:srgbClr val="F3F4F6"/>
            </a:solidFill>
            <a:prstDash val="solid"/>
          </a:ln>
        </p:spPr>
      </p:sp>
      <p:sp>
        <p:nvSpPr>
          <p:cNvPr id="37" name="Shape 35"/>
          <p:cNvSpPr/>
          <p:nvPr/>
        </p:nvSpPr>
        <p:spPr>
          <a:xfrm>
            <a:off x="548640" y="4983480"/>
            <a:ext cx="493776" cy="274320"/>
          </a:xfrm>
          <a:prstGeom prst="roundRect">
            <a:avLst>
              <a:gd name="adj" fmla="val 13333"/>
            </a:avLst>
          </a:prstGeom>
          <a:solidFill>
            <a:srgbClr val="EEF2FF"/>
          </a:solidFill>
          <a:ln w="12700">
            <a:solidFill>
              <a:srgbClr val="EEF2FF"/>
            </a:solidFill>
            <a:prstDash val="solid"/>
          </a:ln>
        </p:spPr>
      </p:sp>
      <p:sp>
        <p:nvSpPr>
          <p:cNvPr id="38" name="Text 36"/>
          <p:cNvSpPr/>
          <p:nvPr/>
        </p:nvSpPr>
        <p:spPr>
          <a:xfrm>
            <a:off x="548640" y="4983480"/>
            <a:ext cx="493776" cy="274320"/>
          </a:xfrm>
          <a:prstGeom prst="rect">
            <a:avLst/>
          </a:prstGeom>
          <a:noFill/>
          <a:ln/>
        </p:spPr>
        <p:txBody>
          <a:bodyPr wrap="square" lIns="0" tIns="0" rIns="0" bIns="0" rtlCol="0" anchor="ctr"/>
          <a:lstStyle/>
          <a:p>
            <a:pPr algn="ctr" indent="0" marL="0">
              <a:buNone/>
            </a:pPr>
            <a:r>
              <a:rPr lang="en-US" sz="1000" b="1" dirty="0">
                <a:solidFill>
                  <a:srgbClr val="4F46E5"/>
                </a:solidFill>
                <a:latin typeface="Consolas" pitchFamily="34" charset="0"/>
                <a:ea typeface="Consolas" pitchFamily="34" charset="-122"/>
                <a:cs typeface="Consolas" pitchFamily="34" charset="-120"/>
              </a:rPr>
              <a:t>P2</a:t>
            </a:r>
            <a:endParaRPr lang="en-US" sz="1000" dirty="0"/>
          </a:p>
        </p:txBody>
      </p:sp>
      <p:sp>
        <p:nvSpPr>
          <p:cNvPr id="39" name="Text 37"/>
          <p:cNvSpPr/>
          <p:nvPr/>
        </p:nvSpPr>
        <p:spPr>
          <a:xfrm>
            <a:off x="1645920" y="4928616"/>
            <a:ext cx="5120640" cy="420624"/>
          </a:xfrm>
          <a:prstGeom prst="rect">
            <a:avLst/>
          </a:prstGeom>
          <a:noFill/>
          <a:ln/>
        </p:spPr>
        <p:txBody>
          <a:bodyPr wrap="square" lIns="0" tIns="0" rIns="0" bIns="0" rtlCol="0" anchor="ctr"/>
          <a:lstStyle/>
          <a:p>
            <a:pPr indent="0" marL="0">
              <a:buNone/>
            </a:pPr>
            <a:r>
              <a:rPr lang="en-US" sz="1200" dirty="0">
                <a:solidFill>
                  <a:srgbClr val="0A0A0A"/>
                </a:solidFill>
                <a:latin typeface="Calibri" pitchFamily="34" charset="0"/>
                <a:ea typeface="Calibri" pitchFamily="34" charset="-122"/>
                <a:cs typeface="Calibri" pitchFamily="34" charset="-120"/>
              </a:rPr>
              <a:t>Has a workaround, mid-size</a:t>
            </a:r>
            <a:endParaRPr lang="en-US" sz="1200" dirty="0"/>
          </a:p>
        </p:txBody>
      </p:sp>
      <p:sp>
        <p:nvSpPr>
          <p:cNvPr id="40" name="Text 38"/>
          <p:cNvSpPr/>
          <p:nvPr/>
        </p:nvSpPr>
        <p:spPr>
          <a:xfrm>
            <a:off x="6766560" y="4928616"/>
            <a:ext cx="1554480" cy="420624"/>
          </a:xfrm>
          <a:prstGeom prst="rect">
            <a:avLst/>
          </a:prstGeom>
          <a:noFill/>
          <a:ln/>
        </p:spPr>
        <p:txBody>
          <a:bodyPr wrap="square" lIns="0" tIns="0" rIns="0" bIns="0" rtlCol="0" anchor="ctr"/>
          <a:lstStyle/>
          <a:p>
            <a:pPr indent="0" marL="0">
              <a:buNone/>
            </a:pPr>
            <a:r>
              <a:rPr lang="en-US" sz="1150" b="1" dirty="0">
                <a:solidFill>
                  <a:srgbClr val="4F46E5"/>
                </a:solidFill>
                <a:latin typeface="Consolas" pitchFamily="34" charset="0"/>
                <a:ea typeface="Consolas" pitchFamily="34" charset="-122"/>
                <a:cs typeface="Consolas" pitchFamily="34" charset="-120"/>
              </a:rPr>
              <a:t>next sprint</a:t>
            </a:r>
            <a:endParaRPr lang="en-US" sz="1150" dirty="0"/>
          </a:p>
        </p:txBody>
      </p:sp>
      <p:sp>
        <p:nvSpPr>
          <p:cNvPr id="41" name="Text 39"/>
          <p:cNvSpPr/>
          <p:nvPr/>
        </p:nvSpPr>
        <p:spPr>
          <a:xfrm>
            <a:off x="8321040" y="4928616"/>
            <a:ext cx="3291840" cy="420624"/>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planned in</a:t>
            </a:r>
            <a:endParaRPr lang="en-US" sz="1200" dirty="0"/>
          </a:p>
        </p:txBody>
      </p:sp>
      <p:sp>
        <p:nvSpPr>
          <p:cNvPr id="42" name="Shape 40"/>
          <p:cNvSpPr/>
          <p:nvPr/>
        </p:nvSpPr>
        <p:spPr>
          <a:xfrm>
            <a:off x="548640" y="5349240"/>
            <a:ext cx="11094415" cy="0"/>
          </a:xfrm>
          <a:prstGeom prst="line">
            <a:avLst/>
          </a:prstGeom>
          <a:noFill/>
          <a:ln w="6350">
            <a:solidFill>
              <a:srgbClr val="F3F4F6"/>
            </a:solidFill>
            <a:prstDash val="solid"/>
          </a:ln>
        </p:spPr>
      </p:sp>
      <p:sp>
        <p:nvSpPr>
          <p:cNvPr id="43" name="Shape 41"/>
          <p:cNvSpPr/>
          <p:nvPr/>
        </p:nvSpPr>
        <p:spPr>
          <a:xfrm>
            <a:off x="548640" y="5404104"/>
            <a:ext cx="493776" cy="274320"/>
          </a:xfrm>
          <a:prstGeom prst="roundRect">
            <a:avLst>
              <a:gd name="adj" fmla="val 13333"/>
            </a:avLst>
          </a:prstGeom>
          <a:solidFill>
            <a:srgbClr val="F3F4F6"/>
          </a:solidFill>
          <a:ln w="12700">
            <a:solidFill>
              <a:srgbClr val="F3F4F6"/>
            </a:solidFill>
            <a:prstDash val="solid"/>
          </a:ln>
        </p:spPr>
      </p:sp>
      <p:sp>
        <p:nvSpPr>
          <p:cNvPr id="44" name="Text 42"/>
          <p:cNvSpPr/>
          <p:nvPr/>
        </p:nvSpPr>
        <p:spPr>
          <a:xfrm>
            <a:off x="548640" y="5404104"/>
            <a:ext cx="493776" cy="274320"/>
          </a:xfrm>
          <a:prstGeom prst="rect">
            <a:avLst/>
          </a:prstGeom>
          <a:noFill/>
          <a:ln/>
        </p:spPr>
        <p:txBody>
          <a:bodyPr wrap="square" lIns="0" tIns="0" rIns="0" bIns="0" rtlCol="0" anchor="ctr"/>
          <a:lstStyle/>
          <a:p>
            <a:pPr algn="ctr" indent="0" marL="0">
              <a:buNone/>
            </a:pPr>
            <a:r>
              <a:rPr lang="en-US" sz="1000" b="1" dirty="0">
                <a:solidFill>
                  <a:srgbClr val="6B7280"/>
                </a:solidFill>
                <a:latin typeface="Consolas" pitchFamily="34" charset="0"/>
                <a:ea typeface="Consolas" pitchFamily="34" charset="-122"/>
                <a:cs typeface="Consolas" pitchFamily="34" charset="-120"/>
              </a:rPr>
              <a:t>P3</a:t>
            </a:r>
            <a:endParaRPr lang="en-US" sz="1000" dirty="0"/>
          </a:p>
        </p:txBody>
      </p:sp>
      <p:sp>
        <p:nvSpPr>
          <p:cNvPr id="45" name="Text 43"/>
          <p:cNvSpPr/>
          <p:nvPr/>
        </p:nvSpPr>
        <p:spPr>
          <a:xfrm>
            <a:off x="1645920" y="5349240"/>
            <a:ext cx="5120640" cy="420624"/>
          </a:xfrm>
          <a:prstGeom prst="rect">
            <a:avLst/>
          </a:prstGeom>
          <a:noFill/>
          <a:ln/>
        </p:spPr>
        <p:txBody>
          <a:bodyPr wrap="square" lIns="0" tIns="0" rIns="0" bIns="0" rtlCol="0" anchor="ctr"/>
          <a:lstStyle/>
          <a:p>
            <a:pPr indent="0" marL="0">
              <a:buNone/>
            </a:pPr>
            <a:r>
              <a:rPr lang="en-US" sz="1200" dirty="0">
                <a:solidFill>
                  <a:srgbClr val="0A0A0A"/>
                </a:solidFill>
                <a:latin typeface="Calibri" pitchFamily="34" charset="0"/>
                <a:ea typeface="Calibri" pitchFamily="34" charset="-122"/>
                <a:cs typeface="Calibri" pitchFamily="34" charset="-120"/>
              </a:rPr>
              <a:t>Nice-to-have or polish</a:t>
            </a:r>
            <a:endParaRPr lang="en-US" sz="1200" dirty="0"/>
          </a:p>
        </p:txBody>
      </p:sp>
      <p:sp>
        <p:nvSpPr>
          <p:cNvPr id="46" name="Text 44"/>
          <p:cNvSpPr/>
          <p:nvPr/>
        </p:nvSpPr>
        <p:spPr>
          <a:xfrm>
            <a:off x="6766560" y="5349240"/>
            <a:ext cx="1554480" cy="420624"/>
          </a:xfrm>
          <a:prstGeom prst="rect">
            <a:avLst/>
          </a:prstGeom>
          <a:noFill/>
          <a:ln/>
        </p:spPr>
        <p:txBody>
          <a:bodyPr wrap="square" lIns="0" tIns="0" rIns="0" bIns="0" rtlCol="0" anchor="ctr"/>
          <a:lstStyle/>
          <a:p>
            <a:pPr indent="0" marL="0">
              <a:buNone/>
            </a:pPr>
            <a:r>
              <a:rPr lang="en-US" sz="1150" b="1" dirty="0">
                <a:solidFill>
                  <a:srgbClr val="6B7280"/>
                </a:solidFill>
                <a:latin typeface="Consolas" pitchFamily="34" charset="0"/>
                <a:ea typeface="Consolas" pitchFamily="34" charset="-122"/>
                <a:cs typeface="Consolas" pitchFamily="34" charset="-120"/>
              </a:rPr>
              <a:t>later</a:t>
            </a:r>
            <a:endParaRPr lang="en-US" sz="1150" dirty="0"/>
          </a:p>
        </p:txBody>
      </p:sp>
      <p:sp>
        <p:nvSpPr>
          <p:cNvPr id="47" name="Text 45"/>
          <p:cNvSpPr/>
          <p:nvPr/>
        </p:nvSpPr>
        <p:spPr>
          <a:xfrm>
            <a:off x="8321040" y="5349240"/>
            <a:ext cx="3291840" cy="420624"/>
          </a:xfrm>
          <a:prstGeom prst="rect">
            <a:avLst/>
          </a:prstGeom>
          <a:noFill/>
          <a:ln/>
        </p:spPr>
        <p:txBody>
          <a:bodyPr wrap="square" lIns="0" tIns="0" rIns="0" bIns="0" rtlCol="0" anchor="ctr"/>
          <a:lstStyle/>
          <a:p>
            <a:pPr indent="0" marL="0">
              <a:buNone/>
            </a:pPr>
            <a:r>
              <a:rPr lang="en-US" sz="1200" dirty="0">
                <a:solidFill>
                  <a:srgbClr val="4B5563"/>
                </a:solidFill>
                <a:latin typeface="Calibri" pitchFamily="34" charset="0"/>
                <a:ea typeface="Calibri" pitchFamily="34" charset="-122"/>
                <a:cs typeface="Calibri" pitchFamily="34" charset="-120"/>
              </a:rPr>
              <a:t>the backlog</a:t>
            </a:r>
            <a:endParaRPr lang="en-US" sz="1200" dirty="0"/>
          </a:p>
        </p:txBody>
      </p:sp>
      <p:sp>
        <p:nvSpPr>
          <p:cNvPr id="48" name="Shape 46"/>
          <p:cNvSpPr/>
          <p:nvPr/>
        </p:nvSpPr>
        <p:spPr>
          <a:xfrm>
            <a:off x="548640" y="5943600"/>
            <a:ext cx="11094415" cy="457200"/>
          </a:xfrm>
          <a:prstGeom prst="roundRect">
            <a:avLst>
              <a:gd name="adj" fmla="val 12000"/>
            </a:avLst>
          </a:prstGeom>
          <a:solidFill>
            <a:srgbClr val="EEF2FF"/>
          </a:solidFill>
          <a:ln w="12700">
            <a:solidFill>
              <a:srgbClr val="EEF2FF"/>
            </a:solidFill>
            <a:prstDash val="solid"/>
          </a:ln>
        </p:spPr>
      </p:sp>
      <p:sp>
        <p:nvSpPr>
          <p:cNvPr id="49" name="Shape 47"/>
          <p:cNvSpPr/>
          <p:nvPr/>
        </p:nvSpPr>
        <p:spPr>
          <a:xfrm>
            <a:off x="548640" y="5943600"/>
            <a:ext cx="64008" cy="457200"/>
          </a:xfrm>
          <a:prstGeom prst="rect">
            <a:avLst/>
          </a:prstGeom>
          <a:solidFill>
            <a:srgbClr val="4F46E5"/>
          </a:solidFill>
          <a:ln w="12700">
            <a:solidFill>
              <a:srgbClr val="4F46E5"/>
            </a:solidFill>
            <a:prstDash val="solid"/>
          </a:ln>
        </p:spPr>
      </p:sp>
      <p:sp>
        <p:nvSpPr>
          <p:cNvPr id="50" name="Text 48"/>
          <p:cNvSpPr/>
          <p:nvPr/>
        </p:nvSpPr>
        <p:spPr>
          <a:xfrm>
            <a:off x="731520" y="5943600"/>
            <a:ext cx="10820095" cy="457200"/>
          </a:xfrm>
          <a:prstGeom prst="rect">
            <a:avLst/>
          </a:prstGeom>
          <a:noFill/>
          <a:ln/>
        </p:spPr>
        <p:txBody>
          <a:bodyPr wrap="square" lIns="0" tIns="0" rIns="0" bIns="0" rtlCol="0" anchor="ctr"/>
          <a:lstStyle/>
          <a:p>
            <a:pPr indent="0" marL="0">
              <a:buNone/>
            </a:pPr>
            <a:r>
              <a:rPr lang="en-US" sz="1000" b="1" dirty="0">
                <a:solidFill>
                  <a:srgbClr val="4F46E5"/>
                </a:solidFill>
                <a:latin typeface="Calibri" pitchFamily="34" charset="0"/>
                <a:ea typeface="Calibri" pitchFamily="34" charset="-122"/>
                <a:cs typeface="Calibri" pitchFamily="34" charset="-120"/>
              </a:rPr>
              <a:t>THE REAL NUMBER    </a:t>
            </a:r>
            <a:pPr indent="0" marL="0">
              <a:buNone/>
            </a:pPr>
            <a:r>
              <a:rPr lang="en-US" sz="1200" dirty="0">
                <a:solidFill>
                  <a:srgbClr val="0A0A0A"/>
                </a:solidFill>
                <a:latin typeface="Calibri" pitchFamily="34" charset="0"/>
                <a:ea typeface="Calibri" pitchFamily="34" charset="-122"/>
                <a:cs typeface="Calibri" pitchFamily="34" charset="-120"/>
              </a:rPr>
              <a:t>Did the sprint still finish, and how long did urgent work wait? Those tell you the handoff works. Ticket counts don't.</a:t>
            </a:r>
            <a:endParaRPr lang="en-US" sz="1000" dirty="0"/>
          </a:p>
        </p:txBody>
      </p:sp>
      <p:sp>
        <p:nvSpPr>
          <p:cNvPr id="51" name="Shape 49"/>
          <p:cNvSpPr/>
          <p:nvPr/>
        </p:nvSpPr>
        <p:spPr>
          <a:xfrm>
            <a:off x="548640" y="6400800"/>
            <a:ext cx="11094415" cy="0"/>
          </a:xfrm>
          <a:prstGeom prst="line">
            <a:avLst/>
          </a:prstGeom>
          <a:noFill/>
          <a:ln w="6350">
            <a:solidFill>
              <a:srgbClr val="E5E7EB"/>
            </a:solidFill>
            <a:prstDash val="solid"/>
          </a:ln>
        </p:spPr>
      </p:sp>
      <p:sp>
        <p:nvSpPr>
          <p:cNvPr id="52" name="Text 50"/>
          <p:cNvSpPr/>
          <p:nvPr/>
        </p:nvSpPr>
        <p:spPr>
          <a:xfrm>
            <a:off x="548640" y="6528816"/>
            <a:ext cx="10454335" cy="237744"/>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Moses Bargue Kortu Jr.</a:t>
            </a:r>
            <a:pPr indent="0" marL="0">
              <a:buNone/>
            </a:pPr>
            <a:r>
              <a:rPr lang="en-US" sz="900" dirty="0">
                <a:solidFill>
                  <a:srgbClr val="9CA3AF"/>
                </a:solidFill>
                <a:latin typeface="Calibri" pitchFamily="34" charset="0"/>
                <a:ea typeface="Calibri" pitchFamily="34" charset="-122"/>
                <a:cs typeface="Calibri" pitchFamily="34" charset="-120"/>
              </a:rPr>
              <a:t>    ·    TPO case  ·  August 2026</a:t>
            </a:r>
            <a:endParaRPr lang="en-US" sz="900" dirty="0"/>
          </a:p>
        </p:txBody>
      </p:sp>
      <p:sp>
        <p:nvSpPr>
          <p:cNvPr id="53" name="Text 51"/>
          <p:cNvSpPr/>
          <p:nvPr/>
        </p:nvSpPr>
        <p:spPr>
          <a:xfrm>
            <a:off x="11002975" y="6528816"/>
            <a:ext cx="457200" cy="237744"/>
          </a:xfrm>
          <a:prstGeom prst="rect">
            <a:avLst/>
          </a:prstGeom>
          <a:noFill/>
          <a:ln/>
        </p:spPr>
        <p:txBody>
          <a:bodyPr wrap="square" lIns="0" tIns="0" rIns="0" bIns="0" rtlCol="0" anchor="ctr"/>
          <a:lstStyle/>
          <a:p>
            <a:pPr algn="r" indent="0" marL="0">
              <a:buNone/>
            </a:pPr>
            <a:r>
              <a:rPr lang="en-US" sz="1000" dirty="0">
                <a:solidFill>
                  <a:srgbClr val="9CA3AF"/>
                </a:solidFill>
                <a:latin typeface="Consolas" pitchFamily="34" charset="0"/>
                <a:ea typeface="Consolas" pitchFamily="34" charset="-122"/>
                <a:cs typeface="Consolas"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548640" y="274320"/>
            <a:ext cx="11094415" cy="292608"/>
          </a:xfrm>
          <a:prstGeom prst="rect">
            <a:avLst/>
          </a:prstGeom>
          <a:noFill/>
          <a:ln/>
        </p:spPr>
        <p:txBody>
          <a:bodyPr wrap="square" lIns="0" tIns="0" rIns="0" bIns="0" rtlCol="0" anchor="ctr"/>
          <a:lstStyle/>
          <a:p>
            <a:pPr indent="0" marL="0">
              <a:buNone/>
            </a:pPr>
            <a:r>
              <a:rPr lang="en-US" sz="1200" b="1" dirty="0">
                <a:solidFill>
                  <a:srgbClr val="6366F1"/>
                </a:solidFill>
                <a:latin typeface="Calibri" pitchFamily="34" charset="0"/>
                <a:ea typeface="Calibri" pitchFamily="34" charset="-122"/>
                <a:cs typeface="Calibri" pitchFamily="34" charset="-120"/>
              </a:rPr>
              <a:t>FERO</a:t>
            </a:r>
            <a:pPr indent="0" marL="0">
              <a:buNone/>
            </a:pPr>
            <a:r>
              <a:rPr lang="en-US" sz="1100" b="1" dirty="0">
                <a:solidFill>
                  <a:srgbClr val="A6ADBB"/>
                </a:solidFill>
                <a:latin typeface="Calibri" pitchFamily="34" charset="0"/>
                <a:ea typeface="Calibri" pitchFamily="34" charset="-122"/>
                <a:cs typeface="Calibri" pitchFamily="34" charset="-120"/>
              </a:rPr>
              <a:t>    05 · The working dashboard</a:t>
            </a:r>
            <a:endParaRPr lang="en-US" sz="1200" dirty="0"/>
          </a:p>
        </p:txBody>
      </p:sp>
      <p:sp>
        <p:nvSpPr>
          <p:cNvPr id="3" name="Text 1"/>
          <p:cNvSpPr/>
          <p:nvPr/>
        </p:nvSpPr>
        <p:spPr>
          <a:xfrm>
            <a:off x="548640" y="749808"/>
            <a:ext cx="11094415" cy="502920"/>
          </a:xfrm>
          <a:prstGeom prst="rect">
            <a:avLst/>
          </a:prstGeom>
          <a:noFill/>
          <a:ln/>
        </p:spPr>
        <p:txBody>
          <a:bodyPr wrap="square" lIns="0" tIns="0" rIns="0" bIns="0" rtlCol="0" anchor="ctr"/>
          <a:lstStyle/>
          <a:p>
            <a:pPr indent="0" marL="0">
              <a:buNone/>
            </a:pPr>
            <a:r>
              <a:rPr lang="en-US" sz="2900" b="1" dirty="0">
                <a:solidFill>
                  <a:srgbClr val="FFFFFF"/>
                </a:solidFill>
                <a:latin typeface="Calibri" pitchFamily="34" charset="0"/>
                <a:ea typeface="Calibri" pitchFamily="34" charset="-122"/>
                <a:cs typeface="Calibri" pitchFamily="34" charset="-120"/>
              </a:rPr>
              <a:t>Don't take my word for it. Open it.</a:t>
            </a:r>
            <a:endParaRPr lang="en-US" sz="2900" dirty="0"/>
          </a:p>
        </p:txBody>
      </p:sp>
      <p:sp>
        <p:nvSpPr>
          <p:cNvPr id="4" name="Text 2"/>
          <p:cNvSpPr/>
          <p:nvPr/>
        </p:nvSpPr>
        <p:spPr>
          <a:xfrm>
            <a:off x="548640" y="1298448"/>
            <a:ext cx="11094415" cy="347472"/>
          </a:xfrm>
          <a:prstGeom prst="rect">
            <a:avLst/>
          </a:prstGeom>
          <a:noFill/>
          <a:ln/>
        </p:spPr>
        <p:txBody>
          <a:bodyPr wrap="square" lIns="0" tIns="0" rIns="0" bIns="0" rtlCol="0" anchor="ctr"/>
          <a:lstStyle/>
          <a:p>
            <a:pPr indent="0" marL="0">
              <a:buNone/>
            </a:pPr>
            <a:r>
              <a:rPr lang="en-US" sz="1450" dirty="0">
                <a:solidFill>
                  <a:srgbClr val="A6ADBB"/>
                </a:solidFill>
                <a:latin typeface="Calibri" pitchFamily="34" charset="0"/>
                <a:ea typeface="Calibri" pitchFamily="34" charset="-122"/>
                <a:cs typeface="Calibri" pitchFamily="34" charset="-120"/>
              </a:rPr>
              <a:t>One file. No install. Opens in any browser, even offline. Three tabs, one per problem.</a:t>
            </a:r>
            <a:endParaRPr lang="en-US" sz="1450" dirty="0"/>
          </a:p>
        </p:txBody>
      </p:sp>
      <p:pic>
        <p:nvPicPr>
          <p:cNvPr id="5" name="Image 0" descr="/home/claude/dashboards/q1_full.png">    </p:cNvPr>
          <p:cNvPicPr>
            <a:picLocks noChangeAspect="1"/>
          </p:cNvPicPr>
          <p:nvPr/>
        </p:nvPicPr>
        <p:blipFill>
          <a:blip r:embed="rId1"/>
          <a:srcRect l="0" r="0" t="0" b="0"/>
          <a:stretch/>
        </p:blipFill>
        <p:spPr>
          <a:xfrm>
            <a:off x="548640" y="1828800"/>
            <a:ext cx="8595360" cy="4114800"/>
          </a:xfrm>
          <a:prstGeom prst="rect">
            <a:avLst/>
          </a:prstGeom>
        </p:spPr>
      </p:pic>
      <p:sp>
        <p:nvSpPr>
          <p:cNvPr id="6" name="Text 3"/>
          <p:cNvSpPr/>
          <p:nvPr/>
        </p:nvSpPr>
        <p:spPr>
          <a:xfrm>
            <a:off x="9326880" y="1828800"/>
            <a:ext cx="2468880" cy="274320"/>
          </a:xfrm>
          <a:prstGeom prst="rect">
            <a:avLst/>
          </a:prstGeom>
          <a:noFill/>
          <a:ln/>
        </p:spPr>
        <p:txBody>
          <a:bodyPr wrap="square" lIns="0" tIns="0" rIns="0" bIns="0" rtlCol="0" anchor="ctr"/>
          <a:lstStyle/>
          <a:p>
            <a:pPr indent="0" marL="0">
              <a:buNone/>
            </a:pPr>
            <a:r>
              <a:rPr lang="en-US" sz="1100" b="1" dirty="0">
                <a:solidFill>
                  <a:srgbClr val="6366F1"/>
                </a:solidFill>
                <a:latin typeface="Calibri" pitchFamily="34" charset="0"/>
                <a:ea typeface="Calibri" pitchFamily="34" charset="-122"/>
                <a:cs typeface="Calibri" pitchFamily="34" charset="-120"/>
              </a:rPr>
              <a:t>WHAT'S INSIDE</a:t>
            </a:r>
            <a:endParaRPr lang="en-US" sz="1100" dirty="0"/>
          </a:p>
        </p:txBody>
      </p:sp>
      <p:sp>
        <p:nvSpPr>
          <p:cNvPr id="7" name="Shape 4"/>
          <p:cNvSpPr/>
          <p:nvPr/>
        </p:nvSpPr>
        <p:spPr>
          <a:xfrm>
            <a:off x="9326880" y="2359152"/>
            <a:ext cx="82296" cy="82296"/>
          </a:xfrm>
          <a:prstGeom prst="ellipse">
            <a:avLst/>
          </a:prstGeom>
          <a:solidFill>
            <a:srgbClr val="6366F1"/>
          </a:solidFill>
          <a:ln w="12700">
            <a:solidFill>
              <a:srgbClr val="6366F1"/>
            </a:solidFill>
            <a:prstDash val="solid"/>
          </a:ln>
        </p:spPr>
      </p:sp>
      <p:sp>
        <p:nvSpPr>
          <p:cNvPr id="8" name="Text 5"/>
          <p:cNvSpPr/>
          <p:nvPr/>
        </p:nvSpPr>
        <p:spPr>
          <a:xfrm>
            <a:off x="9509760" y="2304288"/>
            <a:ext cx="228600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One tab per problem</a:t>
            </a:r>
            <a:endParaRPr lang="en-US" sz="1200" dirty="0"/>
          </a:p>
        </p:txBody>
      </p:sp>
      <p:sp>
        <p:nvSpPr>
          <p:cNvPr id="9" name="Shape 6"/>
          <p:cNvSpPr/>
          <p:nvPr/>
        </p:nvSpPr>
        <p:spPr>
          <a:xfrm>
            <a:off x="9326880" y="2743200"/>
            <a:ext cx="82296" cy="82296"/>
          </a:xfrm>
          <a:prstGeom prst="ellipse">
            <a:avLst/>
          </a:prstGeom>
          <a:solidFill>
            <a:srgbClr val="6366F1"/>
          </a:solidFill>
          <a:ln w="12700">
            <a:solidFill>
              <a:srgbClr val="6366F1"/>
            </a:solidFill>
            <a:prstDash val="solid"/>
          </a:ln>
        </p:spPr>
      </p:sp>
      <p:sp>
        <p:nvSpPr>
          <p:cNvPr id="10" name="Text 7"/>
          <p:cNvSpPr/>
          <p:nvPr/>
        </p:nvSpPr>
        <p:spPr>
          <a:xfrm>
            <a:off x="9509760" y="2688336"/>
            <a:ext cx="228600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Filter recalculates live</a:t>
            </a:r>
            <a:endParaRPr lang="en-US" sz="1200" dirty="0"/>
          </a:p>
        </p:txBody>
      </p:sp>
      <p:sp>
        <p:nvSpPr>
          <p:cNvPr id="11" name="Shape 8"/>
          <p:cNvSpPr/>
          <p:nvPr/>
        </p:nvSpPr>
        <p:spPr>
          <a:xfrm>
            <a:off x="9326880" y="3127248"/>
            <a:ext cx="82296" cy="82296"/>
          </a:xfrm>
          <a:prstGeom prst="ellipse">
            <a:avLst/>
          </a:prstGeom>
          <a:solidFill>
            <a:srgbClr val="6366F1"/>
          </a:solidFill>
          <a:ln w="12700">
            <a:solidFill>
              <a:srgbClr val="6366F1"/>
            </a:solidFill>
            <a:prstDash val="solid"/>
          </a:ln>
        </p:spPr>
      </p:sp>
      <p:sp>
        <p:nvSpPr>
          <p:cNvPr id="12" name="Text 9"/>
          <p:cNvSpPr/>
          <p:nvPr/>
        </p:nvSpPr>
        <p:spPr>
          <a:xfrm>
            <a:off x="9509760" y="3072384"/>
            <a:ext cx="228600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Cause breakdown</a:t>
            </a:r>
            <a:endParaRPr lang="en-US" sz="1200" dirty="0"/>
          </a:p>
        </p:txBody>
      </p:sp>
      <p:sp>
        <p:nvSpPr>
          <p:cNvPr id="13" name="Shape 10"/>
          <p:cNvSpPr/>
          <p:nvPr/>
        </p:nvSpPr>
        <p:spPr>
          <a:xfrm>
            <a:off x="9326880" y="3511296"/>
            <a:ext cx="82296" cy="82296"/>
          </a:xfrm>
          <a:prstGeom prst="ellipse">
            <a:avLst/>
          </a:prstGeom>
          <a:solidFill>
            <a:srgbClr val="6366F1"/>
          </a:solidFill>
          <a:ln w="12700">
            <a:solidFill>
              <a:srgbClr val="6366F1"/>
            </a:solidFill>
            <a:prstDash val="solid"/>
          </a:ln>
        </p:spPr>
      </p:sp>
      <p:sp>
        <p:nvSpPr>
          <p:cNvPr id="14" name="Text 11"/>
          <p:cNvSpPr/>
          <p:nvPr/>
        </p:nvSpPr>
        <p:spPr>
          <a:xfrm>
            <a:off x="9509760" y="3456432"/>
            <a:ext cx="228600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Safe-release checks</a:t>
            </a:r>
            <a:endParaRPr lang="en-US" sz="1200" dirty="0"/>
          </a:p>
        </p:txBody>
      </p:sp>
      <p:sp>
        <p:nvSpPr>
          <p:cNvPr id="15" name="Shape 12"/>
          <p:cNvSpPr/>
          <p:nvPr/>
        </p:nvSpPr>
        <p:spPr>
          <a:xfrm>
            <a:off x="9326880" y="3895344"/>
            <a:ext cx="82296" cy="82296"/>
          </a:xfrm>
          <a:prstGeom prst="ellipse">
            <a:avLst/>
          </a:prstGeom>
          <a:solidFill>
            <a:srgbClr val="6366F1"/>
          </a:solidFill>
          <a:ln w="12700">
            <a:solidFill>
              <a:srgbClr val="6366F1"/>
            </a:solidFill>
            <a:prstDash val="solid"/>
          </a:ln>
        </p:spPr>
      </p:sp>
      <p:sp>
        <p:nvSpPr>
          <p:cNvPr id="16" name="Text 13"/>
          <p:cNvSpPr/>
          <p:nvPr/>
        </p:nvSpPr>
        <p:spPr>
          <a:xfrm>
            <a:off x="9509760" y="3840480"/>
            <a:ext cx="228600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Risk-ranked files</a:t>
            </a:r>
            <a:endParaRPr lang="en-US" sz="1200" dirty="0"/>
          </a:p>
        </p:txBody>
      </p:sp>
      <p:sp>
        <p:nvSpPr>
          <p:cNvPr id="17" name="Shape 14"/>
          <p:cNvSpPr/>
          <p:nvPr/>
        </p:nvSpPr>
        <p:spPr>
          <a:xfrm>
            <a:off x="9326880" y="4279392"/>
            <a:ext cx="82296" cy="82296"/>
          </a:xfrm>
          <a:prstGeom prst="ellipse">
            <a:avLst/>
          </a:prstGeom>
          <a:solidFill>
            <a:srgbClr val="6366F1"/>
          </a:solidFill>
          <a:ln w="12700">
            <a:solidFill>
              <a:srgbClr val="6366F1"/>
            </a:solidFill>
            <a:prstDash val="solid"/>
          </a:ln>
        </p:spPr>
      </p:sp>
      <p:sp>
        <p:nvSpPr>
          <p:cNvPr id="18" name="Text 15"/>
          <p:cNvSpPr/>
          <p:nvPr/>
        </p:nvSpPr>
        <p:spPr>
          <a:xfrm>
            <a:off x="9509760" y="4224528"/>
            <a:ext cx="228600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Set lanes for requests</a:t>
            </a:r>
            <a:endParaRPr lang="en-US" sz="1200" dirty="0"/>
          </a:p>
        </p:txBody>
      </p:sp>
      <p:sp>
        <p:nvSpPr>
          <p:cNvPr id="19" name="Shape 16"/>
          <p:cNvSpPr/>
          <p:nvPr/>
        </p:nvSpPr>
        <p:spPr>
          <a:xfrm>
            <a:off x="9326880" y="4663440"/>
            <a:ext cx="82296" cy="82296"/>
          </a:xfrm>
          <a:prstGeom prst="ellipse">
            <a:avLst/>
          </a:prstGeom>
          <a:solidFill>
            <a:srgbClr val="6366F1"/>
          </a:solidFill>
          <a:ln w="12700">
            <a:solidFill>
              <a:srgbClr val="6366F1"/>
            </a:solidFill>
            <a:prstDash val="solid"/>
          </a:ln>
        </p:spPr>
      </p:sp>
      <p:sp>
        <p:nvSpPr>
          <p:cNvPr id="20" name="Text 17"/>
          <p:cNvSpPr/>
          <p:nvPr/>
        </p:nvSpPr>
        <p:spPr>
          <a:xfrm>
            <a:off x="9509760" y="4608576"/>
            <a:ext cx="2286000" cy="29260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Works with no internet</a:t>
            </a:r>
            <a:endParaRPr lang="en-US" sz="1200" dirty="0"/>
          </a:p>
        </p:txBody>
      </p:sp>
      <p:sp>
        <p:nvSpPr>
          <p:cNvPr id="21" name="Shape 18"/>
          <p:cNvSpPr/>
          <p:nvPr/>
        </p:nvSpPr>
        <p:spPr>
          <a:xfrm>
            <a:off x="548640" y="6126480"/>
            <a:ext cx="11094415" cy="0"/>
          </a:xfrm>
          <a:prstGeom prst="line">
            <a:avLst/>
          </a:prstGeom>
          <a:noFill/>
          <a:ln w="12700">
            <a:solidFill>
              <a:srgbClr val="6366F1"/>
            </a:solidFill>
            <a:prstDash val="solid"/>
          </a:ln>
        </p:spPr>
      </p:sp>
      <p:sp>
        <p:nvSpPr>
          <p:cNvPr id="22" name="Text 19"/>
          <p:cNvSpPr/>
          <p:nvPr/>
        </p:nvSpPr>
        <p:spPr>
          <a:xfrm>
            <a:off x="548640" y="6263640"/>
            <a:ext cx="10545775"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Moses Bargue Kortu Jr.</a:t>
            </a:r>
            <a:pPr indent="0" marL="0">
              <a:buNone/>
            </a:pPr>
            <a:r>
              <a:rPr lang="en-US" sz="1000" dirty="0">
                <a:solidFill>
                  <a:srgbClr val="9CA3AF"/>
                </a:solidFill>
                <a:latin typeface="Calibri" pitchFamily="34" charset="0"/>
                <a:ea typeface="Calibri" pitchFamily="34" charset="-122"/>
                <a:cs typeface="Calibri" pitchFamily="34" charset="-120"/>
              </a:rPr>
              <a:t>    ·    Technical Product Owner case  ·  August 2026</a:t>
            </a:r>
            <a:endParaRPr lang="en-US" sz="1200" dirty="0"/>
          </a:p>
        </p:txBody>
      </p:sp>
      <p:sp>
        <p:nvSpPr>
          <p:cNvPr id="23" name="Text 20"/>
          <p:cNvSpPr/>
          <p:nvPr/>
        </p:nvSpPr>
        <p:spPr>
          <a:xfrm>
            <a:off x="11094415" y="6263640"/>
            <a:ext cx="457200" cy="274320"/>
          </a:xfrm>
          <a:prstGeom prst="rect">
            <a:avLst/>
          </a:prstGeom>
          <a:noFill/>
          <a:ln/>
        </p:spPr>
        <p:txBody>
          <a:bodyPr wrap="square" lIns="0" tIns="0" rIns="0" bIns="0" rtlCol="0" anchor="ctr"/>
          <a:lstStyle/>
          <a:p>
            <a:pPr algn="r" indent="0" marL="0">
              <a:buNone/>
            </a:pPr>
            <a:r>
              <a:rPr lang="en-US" sz="1000" dirty="0">
                <a:solidFill>
                  <a:srgbClr val="9CA3AF"/>
                </a:solidFill>
                <a:latin typeface="Consolas" pitchFamily="34" charset="0"/>
                <a:ea typeface="Consolas" pitchFamily="34" charset="-122"/>
                <a:cs typeface="Consolas" pitchFamily="34" charset="-120"/>
              </a:rPr>
              <a:t>06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FERO — TPO Case</dc:title>
  <dc:subject>PptxGenJS Presentation</dc:subject>
  <dc:creator>Moses Bargue Kortu Jr.</dc:creator>
  <cp:lastModifiedBy>Moses Bargue Kortu Jr.</cp:lastModifiedBy>
  <cp:revision>1</cp:revision>
  <dcterms:created xsi:type="dcterms:W3CDTF">2026-08-24T08:02:48Z</dcterms:created>
  <dcterms:modified xsi:type="dcterms:W3CDTF">2026-08-24T08:02:48Z</dcterms:modified>
</cp:coreProperties>
</file>